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1" r:id="rId8"/>
    <p:sldId id="264" r:id="rId9"/>
    <p:sldId id="269" r:id="rId10"/>
    <p:sldId id="271" r:id="rId11"/>
    <p:sldId id="272" r:id="rId12"/>
    <p:sldId id="273" r:id="rId13"/>
    <p:sldId id="274" r:id="rId14"/>
    <p:sldId id="276" r:id="rId15"/>
    <p:sldId id="275" r:id="rId16"/>
    <p:sldId id="277" r:id="rId17"/>
    <p:sldId id="278" r:id="rId18"/>
    <p:sldId id="279" r:id="rId19"/>
    <p:sldId id="280" r:id="rId20"/>
    <p:sldId id="28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BB9D"/>
    <a:srgbClr val="FDBA4D"/>
    <a:srgbClr val="014A7B"/>
    <a:srgbClr val="014A7C"/>
    <a:srgbClr val="002D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4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2D397-D0B7-FF80-BE1F-5DAF9A7CE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E093BD-8F02-B8E3-ACD7-05A44C1BEE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BE93D-7B52-3C05-E0E4-440AEB51F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5E93-6C46-4CFB-ACD8-BA2F7A8DFCD1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9F9D5-5F88-84A2-D2F6-39B4AC8DE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D0FD2-BEAE-A251-85FA-CEF9411F9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FCD5-7903-4800-B420-2DC2C47E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50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1CFC3-1C01-A769-6982-A2C65ED58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660B2-840E-CA07-4C4F-A51EFCC0E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DFFC3-5A7C-0678-5EBB-1E2B6A3E0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5E93-6C46-4CFB-ACD8-BA2F7A8DFCD1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D9CAF-39BE-1C2C-3303-65F168230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1FC56-5BC5-25E1-4141-DC445E35A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FCD5-7903-4800-B420-2DC2C47E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637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6AB77-5C95-5DEC-CA9C-F718A1B90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67C76-0930-A78B-95CE-BC18E37CF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6F4D6-6C7E-DF0D-7D5F-B8F288925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5E93-6C46-4CFB-ACD8-BA2F7A8DFCD1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E9DBF-EB23-71AF-FF64-FADE7EEE3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427C5-6DB8-7E87-4E44-093328CB0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FCD5-7903-4800-B420-2DC2C47E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858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64707-68F2-402D-3A67-E2ACABCC6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EF9FB-BF0C-973B-6376-69F687071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E49B4-76D9-5EF8-0A15-C0F6B142B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022E8-A020-D105-2974-31B7D16A5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5E93-6C46-4CFB-ACD8-BA2F7A8DFCD1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B4A12-1C1B-DEDC-F72C-3688213C0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9941E-6676-98E8-3A92-01EC807AF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FCD5-7903-4800-B420-2DC2C47E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692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0B735-D444-897F-F409-5122233AC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74FA5-104E-B4FA-9235-D8CECCD5B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243AC-E8DC-8ACB-5C2B-BA8113546E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BC95E4-5428-28FD-B1A2-6650A4B44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8818A-3F79-9F80-64C1-52B82067E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AC5BD-85F1-EAA1-4AB3-4026AB8C5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5E93-6C46-4CFB-ACD8-BA2F7A8DFCD1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B259F7-FF5E-B104-D894-3CF15E824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718544-CA92-CF88-E935-B82398E0D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FCD5-7903-4800-B420-2DC2C47E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939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38FD2-F49A-1D30-D877-D7E6D1C65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08AA06-5D4F-21F3-85BE-6CFE8BF0C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5E93-6C46-4CFB-ACD8-BA2F7A8DFCD1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9085DB-36D9-D9E6-4DC6-EB9091D22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C6B81-EC71-FD0C-BCCC-EA086BA4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FCD5-7903-4800-B420-2DC2C47E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2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E4FD52-5D0B-C2B5-550E-A59CB3374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5E93-6C46-4CFB-ACD8-BA2F7A8DFCD1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780DDC-8636-D31A-339F-7F16065EF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CF504-C8A4-2F7F-0B4A-3985DC1D3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FCD5-7903-4800-B420-2DC2C47E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862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513DD-3914-18AF-C791-4BFA03AC8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86804-6C93-BFDF-F434-F27768002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D6D174-A597-9C7A-318D-EA2AFE373A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BF1B89-86BC-E9F1-302F-298F2D168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5E93-6C46-4CFB-ACD8-BA2F7A8DFCD1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A97E3-B41B-6FEE-9F49-02278E93D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F8B070-1C93-5300-48FF-3A4B9A68E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FCD5-7903-4800-B420-2DC2C47E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005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78162-7806-F493-3F06-0D27DE388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585703-D4A9-E689-C25A-175CD994CD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44EF1A-A3B4-DAFE-36F2-030C74074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AA62C9-D9A4-7F43-818E-91C7826BF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5E93-6C46-4CFB-ACD8-BA2F7A8DFCD1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27B86-E4A3-E5A1-8943-D82630F64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2A5E4-877B-89A7-4695-474CB404A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FCD5-7903-4800-B420-2DC2C47E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551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6CA87-1E4B-721F-B546-E0CD3B2B7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616261-7CED-D881-7AC0-E54802C9B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4EF96-3B13-9518-CC92-1E881AA1F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5E93-6C46-4CFB-ACD8-BA2F7A8DFCD1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43CB9-BB63-74D6-CCEF-78D096B53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70C39-312F-C961-9214-A947CEE9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FCD5-7903-4800-B420-2DC2C47E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57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C63E76-503E-EB00-5CEE-9AD758BFC8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020F88-E1A3-4452-816E-2594C0DEB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45928-BA02-0EFD-B30B-0DB83339F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5E93-6C46-4CFB-ACD8-BA2F7A8DFCD1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4CB14-1B59-7750-D2E1-7F9CD10FD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B326B-7F29-9465-B548-A48BDFB65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AFCD5-7903-4800-B420-2DC2C47E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473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24188B-E941-83F3-A308-EEC99FA62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79E32-6033-CCEE-C5A9-B24B643EA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EC863-08F7-39CC-3835-F98AC0617A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85E93-6C46-4CFB-ACD8-BA2F7A8DFCD1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DF6E2-E810-DEBA-44E2-A1E98AB6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EF57F-352E-FE83-38BC-AE04EB0F50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AFCD5-7903-4800-B420-2DC2C47E1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04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ikefal.net/tag/sql-server/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freepngimg.com/png/72539-python-science-django-machine-learning-others-data" TargetMode="External"/><Relationship Id="rId5" Type="http://schemas.openxmlformats.org/officeDocument/2006/relationships/image" Target="../media/image4.png"/><Relationship Id="rId4" Type="http://schemas.openxmlformats.org/officeDocument/2006/relationships/hyperlink" Target="https://commons.wikimedia.org/wiki/File:Vue.js_Logo_2.svg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ikefal.net/tag/sql-server/" TargetMode="External"/><Relationship Id="rId13" Type="http://schemas.openxmlformats.org/officeDocument/2006/relationships/hyperlink" Target="http://www.pngall.com/java-png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image" Target="../media/image7.png"/><Relationship Id="rId17" Type="http://schemas.openxmlformats.org/officeDocument/2006/relationships/hyperlink" Target="https://en.wikipedia.org/wiki/Wikipedia:Files_for_upload/March_2019" TargetMode="Externa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freepngimg.com/png/72539-python-science-django-machine-learning-others-data" TargetMode="External"/><Relationship Id="rId11" Type="http://schemas.openxmlformats.org/officeDocument/2006/relationships/hyperlink" Target="https://smlpoints.com/guide-dotnet-vue-mvc-with-web-api-developmemt.html" TargetMode="External"/><Relationship Id="rId5" Type="http://schemas.openxmlformats.org/officeDocument/2006/relationships/image" Target="../media/image4.png"/><Relationship Id="rId15" Type="http://schemas.openxmlformats.org/officeDocument/2006/relationships/hyperlink" Target="https://commons.wikimedia.org/wiki/File:MongoDB_Logo.svg" TargetMode="External"/><Relationship Id="rId10" Type="http://schemas.microsoft.com/office/2007/relationships/hdphoto" Target="../media/hdphoto1.wdp"/><Relationship Id="rId4" Type="http://schemas.openxmlformats.org/officeDocument/2006/relationships/hyperlink" Target="https://commons.wikimedia.org/wiki/File:Vue.js_Logo_2.svg" TargetMode="External"/><Relationship Id="rId9" Type="http://schemas.openxmlformats.org/officeDocument/2006/relationships/image" Target="../media/image6.png"/><Relationship Id="rId1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ikefal.net/tag/sql-server/" TargetMode="External"/><Relationship Id="rId13" Type="http://schemas.openxmlformats.org/officeDocument/2006/relationships/hyperlink" Target="http://www.pngall.com/java-png" TargetMode="External"/><Relationship Id="rId18" Type="http://schemas.openxmlformats.org/officeDocument/2006/relationships/image" Target="../media/image10.png"/><Relationship Id="rId3" Type="http://schemas.openxmlformats.org/officeDocument/2006/relationships/image" Target="../media/image3.png"/><Relationship Id="rId21" Type="http://schemas.openxmlformats.org/officeDocument/2006/relationships/hyperlink" Target="https://damiandeluca.com.ar/que-es-react-native" TargetMode="External"/><Relationship Id="rId7" Type="http://schemas.openxmlformats.org/officeDocument/2006/relationships/image" Target="../media/image5.png"/><Relationship Id="rId12" Type="http://schemas.openxmlformats.org/officeDocument/2006/relationships/image" Target="../media/image7.png"/><Relationship Id="rId17" Type="http://schemas.openxmlformats.org/officeDocument/2006/relationships/hyperlink" Target="https://en.wikipedia.org/wiki/Wikipedia:Files_for_upload/March_2019" TargetMode="Externa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freepngimg.com/png/72539-python-science-django-machine-learning-others-data" TargetMode="External"/><Relationship Id="rId11" Type="http://schemas.openxmlformats.org/officeDocument/2006/relationships/hyperlink" Target="https://smlpoints.com/guide-dotnet-vue-mvc-with-web-api-developmemt.html" TargetMode="External"/><Relationship Id="rId5" Type="http://schemas.openxmlformats.org/officeDocument/2006/relationships/image" Target="../media/image4.png"/><Relationship Id="rId15" Type="http://schemas.openxmlformats.org/officeDocument/2006/relationships/hyperlink" Target="https://commons.wikimedia.org/wiki/File:MongoDB_Logo.svg" TargetMode="External"/><Relationship Id="rId10" Type="http://schemas.microsoft.com/office/2007/relationships/hdphoto" Target="../media/hdphoto1.wdp"/><Relationship Id="rId19" Type="http://schemas.openxmlformats.org/officeDocument/2006/relationships/hyperlink" Target="https://academy.hsoub.com/programming/javascript/angularjs/%D8%A7%D9%84%D8%AF%D9%84%D9%8A%D9%84-%D8%A7%D9%84%D9%83%D8%A7%D9%85%D9%84-%D9%84%D8%AA%D8%B9%D9%84%D9%85-angular-js-%D9%81%D9%8A-%D9%8A%D9%88%D9%85-%D9%88%D8%A7%D8%AD%D8%AF-r11/" TargetMode="External"/><Relationship Id="rId4" Type="http://schemas.openxmlformats.org/officeDocument/2006/relationships/hyperlink" Target="https://commons.wikimedia.org/wiki/File:Vue.js_Logo_2.svg" TargetMode="External"/><Relationship Id="rId9" Type="http://schemas.openxmlformats.org/officeDocument/2006/relationships/image" Target="../media/image6.png"/><Relationship Id="rId1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academy.hsoub.com/programming/javascript/angularjs/%D8%A7%D9%84%D8%AF%D9%84%D9%8A%D9%84-%D8%A7%D9%84%D9%83%D8%A7%D9%85%D9%84-%D9%84%D8%AA%D8%B9%D9%84%D9%85-angular-js-%D9%81%D9%8A-%D9%8A%D9%88%D9%85-%D9%88%D8%A7%D8%AD%D8%AF-r11/" TargetMode="External"/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ommons.wikimedia.org/wiki/File:Vue.js_Logo_2.svg" TargetMode="External"/><Relationship Id="rId5" Type="http://schemas.openxmlformats.org/officeDocument/2006/relationships/image" Target="../media/image3.png"/><Relationship Id="rId4" Type="http://schemas.openxmlformats.org/officeDocument/2006/relationships/hyperlink" Target="https://damiandeluca.com.ar/que-es-react-native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67C61-A794-F08A-42AC-6B4EBD118F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0902" y="2164525"/>
            <a:ext cx="10490200" cy="1639950"/>
          </a:xfrm>
        </p:spPr>
        <p:txBody>
          <a:bodyPr>
            <a:normAutofit/>
          </a:bodyPr>
          <a:lstStyle/>
          <a:p>
            <a:r>
              <a:rPr lang="sr-Cyrl-R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Развој веб апликације применом Microfrontend архитектуре</a:t>
            </a:r>
            <a:endParaRPr lang="en-US" sz="4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A251D8-2ADB-79F3-EC64-1268FB067E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4887149"/>
            <a:ext cx="4572000" cy="1311811"/>
          </a:xfrm>
        </p:spPr>
        <p:txBody>
          <a:bodyPr/>
          <a:lstStyle/>
          <a:p>
            <a:r>
              <a:rPr lang="sr-Cyrl-R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Студент</a:t>
            </a: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sr-Cyrl-R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Вељко Благојевић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r-Cyrl-R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2023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/3031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05E91BB-534F-BAEA-31DC-E2B722CC0842}"/>
              </a:ext>
            </a:extLst>
          </p:cNvPr>
          <p:cNvSpPr txBox="1">
            <a:spLocks/>
          </p:cNvSpPr>
          <p:nvPr/>
        </p:nvSpPr>
        <p:spPr>
          <a:xfrm>
            <a:off x="7391400" y="4887149"/>
            <a:ext cx="4572000" cy="1311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r-Cyrl-R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Ментор</a:t>
            </a:r>
            <a:r>
              <a:rPr lang="sr-Latn-R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sr-Cyrl-R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Проф. др Слађан Бабарогић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6B29E4-6F49-F745-13A0-25F989A7FBD2}"/>
              </a:ext>
            </a:extLst>
          </p:cNvPr>
          <p:cNvSpPr txBox="1"/>
          <p:nvPr/>
        </p:nvSpPr>
        <p:spPr>
          <a:xfrm>
            <a:off x="8753383" y="6243638"/>
            <a:ext cx="3210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r-Cyrl-R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Београд,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</a:t>
            </a:r>
            <a:r>
              <a:rPr lang="sr-Cyrl-R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r-Cyrl-R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CE47BF-E58E-7CEA-0C71-BEF6EC3B8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407" y="56613"/>
            <a:ext cx="3513186" cy="210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222263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0EE25829-FDA0-E5D0-54D6-3F245B1CE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46507" cy="6858000"/>
          </a:xfrm>
          <a:prstGeom prst="rect">
            <a:avLst/>
          </a:prstGeom>
        </p:spPr>
      </p:pic>
      <p:sp>
        <p:nvSpPr>
          <p:cNvPr id="65" name="Cylinder 64">
            <a:extLst>
              <a:ext uri="{FF2B5EF4-FFF2-40B4-BE49-F238E27FC236}">
                <a16:creationId xmlns:a16="http://schemas.microsoft.com/office/drawing/2014/main" id="{FE9B53CF-E6F1-CB94-2B11-6BF161544E46}"/>
              </a:ext>
            </a:extLst>
          </p:cNvPr>
          <p:cNvSpPr/>
          <p:nvPr/>
        </p:nvSpPr>
        <p:spPr>
          <a:xfrm>
            <a:off x="5193815" y="510671"/>
            <a:ext cx="1804370" cy="1464815"/>
          </a:xfrm>
          <a:prstGeom prst="ca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>
                <a:latin typeface="Arial" panose="020B0604020202020204" pitchFamily="34" charset="0"/>
                <a:cs typeface="Arial" panose="020B0604020202020204" pitchFamily="34" charset="0"/>
              </a:rPr>
              <a:t>База података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AD97064F-546A-7263-362C-99EC7FF53F60}"/>
              </a:ext>
            </a:extLst>
          </p:cNvPr>
          <p:cNvSpPr/>
          <p:nvPr/>
        </p:nvSpPr>
        <p:spPr>
          <a:xfrm>
            <a:off x="5103099" y="2479089"/>
            <a:ext cx="2003021" cy="115409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/>
              <a:t>Микросервис</a:t>
            </a:r>
            <a:endParaRPr lang="en-US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254DD51-772E-F6A0-1AEE-07B157D4ECB5}"/>
              </a:ext>
            </a:extLst>
          </p:cNvPr>
          <p:cNvSpPr/>
          <p:nvPr/>
        </p:nvSpPr>
        <p:spPr>
          <a:xfrm>
            <a:off x="5094489" y="5388746"/>
            <a:ext cx="2003021" cy="9497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Фронтенд</a:t>
            </a:r>
            <a:endParaRPr lang="en-US" dirty="0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63FE7C82-3D8E-C7B0-A475-618278062B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969774" y="6096698"/>
            <a:ext cx="448081" cy="388337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41E29E6E-EC63-64EA-8200-0DFE1377CF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893315" y="3165030"/>
            <a:ext cx="512611" cy="512611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EAE6A66F-EB5C-D76B-3D83-E29CF09F95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062882" y="1491284"/>
            <a:ext cx="434322" cy="455673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F2AECFA7-F7A4-8B57-4197-7429BDBDE253}"/>
              </a:ext>
            </a:extLst>
          </p:cNvPr>
          <p:cNvSpPr txBox="1"/>
          <p:nvPr/>
        </p:nvSpPr>
        <p:spPr>
          <a:xfrm>
            <a:off x="10488934" y="887056"/>
            <a:ext cx="1544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dirty="0">
                <a:solidFill>
                  <a:schemeClr val="bg1"/>
                </a:solidFill>
              </a:rPr>
              <a:t>Слој података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A6372EC-BF08-15F4-E8E6-A9FEE2B824FE}"/>
              </a:ext>
            </a:extLst>
          </p:cNvPr>
          <p:cNvSpPr txBox="1"/>
          <p:nvPr/>
        </p:nvSpPr>
        <p:spPr>
          <a:xfrm>
            <a:off x="10488933" y="2522740"/>
            <a:ext cx="1544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dirty="0">
                <a:solidFill>
                  <a:schemeClr val="bg1"/>
                </a:solidFill>
              </a:rPr>
              <a:t>Слој пословне логике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EB3509A-D302-EDFF-4D1D-5040535CECF0}"/>
              </a:ext>
            </a:extLst>
          </p:cNvPr>
          <p:cNvSpPr txBox="1"/>
          <p:nvPr/>
        </p:nvSpPr>
        <p:spPr>
          <a:xfrm>
            <a:off x="10488933" y="5330200"/>
            <a:ext cx="1544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dirty="0">
                <a:solidFill>
                  <a:schemeClr val="bg1"/>
                </a:solidFill>
              </a:rPr>
              <a:t>Слој корисничког</a:t>
            </a:r>
          </a:p>
          <a:p>
            <a:pPr algn="ctr"/>
            <a:r>
              <a:rPr lang="sr-Cyrl-RS" dirty="0">
                <a:solidFill>
                  <a:schemeClr val="bg1"/>
                </a:solidFill>
              </a:rPr>
              <a:t>интерфејса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F959A322-0941-A3A8-6F08-69AC9D0C159B}"/>
              </a:ext>
            </a:extLst>
          </p:cNvPr>
          <p:cNvCxnSpPr>
            <a:cxnSpLocks/>
            <a:stCxn id="82" idx="0"/>
            <a:endCxn id="65" idx="3"/>
          </p:cNvCxnSpPr>
          <p:nvPr/>
        </p:nvCxnSpPr>
        <p:spPr>
          <a:xfrm flipH="1" flipV="1">
            <a:off x="6096000" y="1975486"/>
            <a:ext cx="8610" cy="503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F5B09267-E659-8EE1-B057-26695496DDE0}"/>
              </a:ext>
            </a:extLst>
          </p:cNvPr>
          <p:cNvCxnSpPr>
            <a:cxnSpLocks/>
            <a:stCxn id="87" idx="0"/>
            <a:endCxn id="82" idx="2"/>
          </p:cNvCxnSpPr>
          <p:nvPr/>
        </p:nvCxnSpPr>
        <p:spPr>
          <a:xfrm flipV="1">
            <a:off x="6096000" y="3633186"/>
            <a:ext cx="8610" cy="1755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29627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6D8433-DF1D-1BE7-7CC1-BA0403CED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1E8ED9D0-7AD3-517F-D1D2-7592FE516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833584">
            <a:off x="-510337" y="2667697"/>
            <a:ext cx="5246507" cy="6858000"/>
          </a:xfrm>
          <a:prstGeom prst="rect">
            <a:avLst/>
          </a:prstGeom>
        </p:spPr>
      </p:pic>
      <p:sp>
        <p:nvSpPr>
          <p:cNvPr id="65" name="Cylinder 64">
            <a:extLst>
              <a:ext uri="{FF2B5EF4-FFF2-40B4-BE49-F238E27FC236}">
                <a16:creationId xmlns:a16="http://schemas.microsoft.com/office/drawing/2014/main" id="{E307A2D7-328D-13D6-F1D6-EDA50C24F934}"/>
              </a:ext>
            </a:extLst>
          </p:cNvPr>
          <p:cNvSpPr/>
          <p:nvPr/>
        </p:nvSpPr>
        <p:spPr>
          <a:xfrm>
            <a:off x="5193815" y="510671"/>
            <a:ext cx="1804370" cy="1464815"/>
          </a:xfrm>
          <a:prstGeom prst="ca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>
                <a:latin typeface="Arial" panose="020B0604020202020204" pitchFamily="34" charset="0"/>
                <a:cs typeface="Arial" panose="020B0604020202020204" pitchFamily="34" charset="0"/>
              </a:rPr>
              <a:t>База података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Cylinder 70">
            <a:extLst>
              <a:ext uri="{FF2B5EF4-FFF2-40B4-BE49-F238E27FC236}">
                <a16:creationId xmlns:a16="http://schemas.microsoft.com/office/drawing/2014/main" id="{A9E29A26-5A75-3351-1DF8-AED924762F0A}"/>
              </a:ext>
            </a:extLst>
          </p:cNvPr>
          <p:cNvSpPr/>
          <p:nvPr/>
        </p:nvSpPr>
        <p:spPr>
          <a:xfrm>
            <a:off x="2207235" y="510673"/>
            <a:ext cx="1804370" cy="1464815"/>
          </a:xfrm>
          <a:prstGeom prst="ca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>
                <a:latin typeface="Arial" panose="020B0604020202020204" pitchFamily="34" charset="0"/>
                <a:cs typeface="Arial" panose="020B0604020202020204" pitchFamily="34" charset="0"/>
              </a:rPr>
              <a:t>База података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Cylinder 72">
            <a:extLst>
              <a:ext uri="{FF2B5EF4-FFF2-40B4-BE49-F238E27FC236}">
                <a16:creationId xmlns:a16="http://schemas.microsoft.com/office/drawing/2014/main" id="{36110458-1D34-77F2-5C96-41649E8B6E3D}"/>
              </a:ext>
            </a:extLst>
          </p:cNvPr>
          <p:cNvSpPr/>
          <p:nvPr/>
        </p:nvSpPr>
        <p:spPr>
          <a:xfrm>
            <a:off x="8180395" y="510672"/>
            <a:ext cx="1804370" cy="1464815"/>
          </a:xfrm>
          <a:prstGeom prst="ca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>
                <a:latin typeface="Arial" panose="020B0604020202020204" pitchFamily="34" charset="0"/>
                <a:cs typeface="Arial" panose="020B0604020202020204" pitchFamily="34" charset="0"/>
              </a:rPr>
              <a:t>База података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9E690944-85FB-59B2-B837-CC170A6B3A30}"/>
              </a:ext>
            </a:extLst>
          </p:cNvPr>
          <p:cNvSpPr/>
          <p:nvPr/>
        </p:nvSpPr>
        <p:spPr>
          <a:xfrm>
            <a:off x="2112917" y="2479090"/>
            <a:ext cx="2003021" cy="115409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 err="1"/>
              <a:t>Микросервис</a:t>
            </a:r>
            <a:endParaRPr lang="en-US" dirty="0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4DFCDAD1-78F3-4ED1-435A-8450AF4512F9}"/>
              </a:ext>
            </a:extLst>
          </p:cNvPr>
          <p:cNvSpPr/>
          <p:nvPr/>
        </p:nvSpPr>
        <p:spPr>
          <a:xfrm>
            <a:off x="5103099" y="2479089"/>
            <a:ext cx="2003021" cy="115409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/>
              <a:t>Микросервис</a:t>
            </a:r>
            <a:endParaRPr lang="en-US" dirty="0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6E3139B3-3E95-DDBA-E55C-8BF0AF40478A}"/>
              </a:ext>
            </a:extLst>
          </p:cNvPr>
          <p:cNvSpPr/>
          <p:nvPr/>
        </p:nvSpPr>
        <p:spPr>
          <a:xfrm>
            <a:off x="8086078" y="2479089"/>
            <a:ext cx="2003021" cy="115409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/>
              <a:t>Микросервис</a:t>
            </a:r>
            <a:endParaRPr lang="en-US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5E2B26D-2775-0568-6BC7-16E893432EDB}"/>
              </a:ext>
            </a:extLst>
          </p:cNvPr>
          <p:cNvSpPr/>
          <p:nvPr/>
        </p:nvSpPr>
        <p:spPr>
          <a:xfrm>
            <a:off x="5094489" y="5388746"/>
            <a:ext cx="2003021" cy="9497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Фронтенд</a:t>
            </a:r>
            <a:endParaRPr lang="en-US" dirty="0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0444BEEC-D823-725E-EFF8-2511CCF99270}"/>
              </a:ext>
            </a:extLst>
          </p:cNvPr>
          <p:cNvSpPr/>
          <p:nvPr/>
        </p:nvSpPr>
        <p:spPr>
          <a:xfrm>
            <a:off x="4954305" y="3956214"/>
            <a:ext cx="2300610" cy="70113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API </a:t>
            </a:r>
            <a:r>
              <a:rPr lang="sr-Cyrl-RS" dirty="0"/>
              <a:t>Капија</a:t>
            </a:r>
            <a:endParaRPr lang="en-US" dirty="0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97645BEB-4B7F-C427-D293-5BBD978E79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969774" y="6096698"/>
            <a:ext cx="448081" cy="388337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B890DB56-EBEC-397A-7862-BCE4545C35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893315" y="3165030"/>
            <a:ext cx="512611" cy="512611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7E98E411-7D25-5524-55C5-5B743F3131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062882" y="1491284"/>
            <a:ext cx="434322" cy="455673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0EB99008-355E-507E-2B8D-B9F7830453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0" b="100000" l="0" r="96875">
                        <a14:foregroundMark x1="32188" y1="16406" x2="69063" y2="18125"/>
                        <a14:foregroundMark x1="17500" y1="26563" x2="13125" y2="45625"/>
                        <a14:foregroundMark x1="21563" y1="75313" x2="14219" y2="37969"/>
                        <a14:foregroundMark x1="22344" y1="64531" x2="87656" y2="59844"/>
                        <a14:foregroundMark x1="73594" y1="86094" x2="91719" y2="40938"/>
                        <a14:foregroundMark x1="96875" y1="41719" x2="96719" y2="55156"/>
                        <a14:foregroundMark x1="51875" y1="6719" x2="39844" y2="5000"/>
                        <a14:backgroundMark x1="9063" y1="90938" x2="6875" y2="86094"/>
                        <a14:backgroundMark x1="5313" y1="18281" x2="8125" y2="11719"/>
                        <a14:backgroundMark x1="33438" y1="47188" x2="32031" y2="45313"/>
                        <a14:backgroundMark x1="51875" y1="44063" x2="51875" y2="42031"/>
                        <a14:backgroundMark x1="33906" y1="76406" x2="32813" y2="75156"/>
                        <a14:backgroundMark x1="44844" y1="76875" x2="43438" y2="74063"/>
                        <a14:backgroundMark x1="55000" y1="74688" x2="55000" y2="72656"/>
                        <a14:backgroundMark x1="60781" y1="74375" x2="61563" y2="71563"/>
                        <a14:backgroundMark x1="11563" y1="56094" x2="11094" y2="55469"/>
                      </a14:backgroundRemoval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1865122" y="3134038"/>
            <a:ext cx="574596" cy="574596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BE8D37D5-8870-8F7B-B106-79FA0687E45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7923577" y="3119553"/>
            <a:ext cx="513633" cy="513633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83B48BD0-4577-4F54-F757-4B978B94ED2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837473B0-CC2E-450A-ABE3-18F120FF3D39}">
                <a1611:picAttrSrcUrl xmlns:a1611="http://schemas.microsoft.com/office/drawing/2016/11/main" r:id="rId15"/>
              </a:ext>
            </a:extLst>
          </a:blip>
          <a:srcRect r="86160"/>
          <a:stretch/>
        </p:blipFill>
        <p:spPr>
          <a:xfrm>
            <a:off x="2028610" y="1349564"/>
            <a:ext cx="378865" cy="739114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11451E6D-05A6-81B2-5B5A-9A7F1A48095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837473B0-CC2E-450A-ABE3-18F120FF3D39}">
                <a1611:picAttrSrcUrl xmlns:a1611="http://schemas.microsoft.com/office/drawing/2016/11/main" r:id="rId17"/>
              </a:ext>
            </a:extLst>
          </a:blip>
          <a:stretch>
            <a:fillRect/>
          </a:stretch>
        </p:blipFill>
        <p:spPr>
          <a:xfrm>
            <a:off x="7893095" y="1413005"/>
            <a:ext cx="574599" cy="574599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AB7C028A-4956-5D90-9CF5-F3183D55CAE1}"/>
              </a:ext>
            </a:extLst>
          </p:cNvPr>
          <p:cNvSpPr txBox="1"/>
          <p:nvPr/>
        </p:nvSpPr>
        <p:spPr>
          <a:xfrm>
            <a:off x="10488934" y="887056"/>
            <a:ext cx="1544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dirty="0">
                <a:solidFill>
                  <a:schemeClr val="bg1"/>
                </a:solidFill>
              </a:rPr>
              <a:t>Слој података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45BDD6E-4200-8145-DC5B-8A9EBF9545E7}"/>
              </a:ext>
            </a:extLst>
          </p:cNvPr>
          <p:cNvSpPr txBox="1"/>
          <p:nvPr/>
        </p:nvSpPr>
        <p:spPr>
          <a:xfrm>
            <a:off x="10488933" y="2522740"/>
            <a:ext cx="1544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dirty="0">
                <a:solidFill>
                  <a:schemeClr val="bg1"/>
                </a:solidFill>
              </a:rPr>
              <a:t>Слој пословне логике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F82D8F2-65FC-8B81-569F-BD04201E4942}"/>
              </a:ext>
            </a:extLst>
          </p:cNvPr>
          <p:cNvSpPr txBox="1"/>
          <p:nvPr/>
        </p:nvSpPr>
        <p:spPr>
          <a:xfrm>
            <a:off x="10488933" y="5330200"/>
            <a:ext cx="1544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dirty="0">
                <a:solidFill>
                  <a:schemeClr val="bg1"/>
                </a:solidFill>
              </a:rPr>
              <a:t>Слој корисничког</a:t>
            </a:r>
          </a:p>
          <a:p>
            <a:pPr algn="ctr"/>
            <a:r>
              <a:rPr lang="sr-Cyrl-RS" dirty="0">
                <a:solidFill>
                  <a:schemeClr val="bg1"/>
                </a:solidFill>
              </a:rPr>
              <a:t>интерфејса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6F1562F3-2C33-94C6-160B-ECDF57A4AE59}"/>
              </a:ext>
            </a:extLst>
          </p:cNvPr>
          <p:cNvCxnSpPr>
            <a:cxnSpLocks/>
            <a:stCxn id="80" idx="0"/>
            <a:endCxn id="71" idx="3"/>
          </p:cNvCxnSpPr>
          <p:nvPr/>
        </p:nvCxnSpPr>
        <p:spPr>
          <a:xfrm flipH="1" flipV="1">
            <a:off x="3109420" y="1975488"/>
            <a:ext cx="5008" cy="503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F1849707-9E50-474D-CB5A-853DC6E3E7F2}"/>
              </a:ext>
            </a:extLst>
          </p:cNvPr>
          <p:cNvCxnSpPr>
            <a:cxnSpLocks/>
            <a:stCxn id="82" idx="0"/>
            <a:endCxn id="65" idx="3"/>
          </p:cNvCxnSpPr>
          <p:nvPr/>
        </p:nvCxnSpPr>
        <p:spPr>
          <a:xfrm flipH="1" flipV="1">
            <a:off x="6096000" y="1975486"/>
            <a:ext cx="8610" cy="503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C78578B4-1BC5-14C7-B36B-A028A53E01D4}"/>
              </a:ext>
            </a:extLst>
          </p:cNvPr>
          <p:cNvCxnSpPr>
            <a:cxnSpLocks/>
            <a:stCxn id="84" idx="0"/>
            <a:endCxn id="73" idx="3"/>
          </p:cNvCxnSpPr>
          <p:nvPr/>
        </p:nvCxnSpPr>
        <p:spPr>
          <a:xfrm flipH="1" flipV="1">
            <a:off x="9082580" y="1975487"/>
            <a:ext cx="5009" cy="503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CCB7D5F7-076B-922D-FCF5-188BEEC268AF}"/>
              </a:ext>
            </a:extLst>
          </p:cNvPr>
          <p:cNvCxnSpPr>
            <a:cxnSpLocks/>
            <a:stCxn id="93" idx="0"/>
            <a:endCxn id="80" idx="2"/>
          </p:cNvCxnSpPr>
          <p:nvPr/>
        </p:nvCxnSpPr>
        <p:spPr>
          <a:xfrm flipH="1" flipV="1">
            <a:off x="3114428" y="3633187"/>
            <a:ext cx="2990182" cy="323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655C8126-89F8-9586-FEDC-D3C5A058375E}"/>
              </a:ext>
            </a:extLst>
          </p:cNvPr>
          <p:cNvCxnSpPr>
            <a:cxnSpLocks/>
            <a:stCxn id="93" idx="0"/>
            <a:endCxn id="82" idx="2"/>
          </p:cNvCxnSpPr>
          <p:nvPr/>
        </p:nvCxnSpPr>
        <p:spPr>
          <a:xfrm flipV="1">
            <a:off x="6104610" y="3633186"/>
            <a:ext cx="0" cy="323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782A74EB-43EA-E001-B0FE-E7B4B51420CB}"/>
              </a:ext>
            </a:extLst>
          </p:cNvPr>
          <p:cNvCxnSpPr>
            <a:cxnSpLocks/>
            <a:stCxn id="93" idx="0"/>
            <a:endCxn id="84" idx="2"/>
          </p:cNvCxnSpPr>
          <p:nvPr/>
        </p:nvCxnSpPr>
        <p:spPr>
          <a:xfrm flipV="1">
            <a:off x="6104610" y="3633186"/>
            <a:ext cx="2982979" cy="323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D62EA6CA-C869-B943-32DE-486D04E936DD}"/>
              </a:ext>
            </a:extLst>
          </p:cNvPr>
          <p:cNvCxnSpPr>
            <a:cxnSpLocks/>
            <a:stCxn id="87" idx="0"/>
            <a:endCxn id="93" idx="2"/>
          </p:cNvCxnSpPr>
          <p:nvPr/>
        </p:nvCxnSpPr>
        <p:spPr>
          <a:xfrm flipV="1">
            <a:off x="6096000" y="4657345"/>
            <a:ext cx="8610" cy="731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441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A7A85-0818-C9EE-81F3-B19148657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0C013E94-1E86-CACD-0F2B-CB2B7648D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418177">
            <a:off x="5997120" y="5226518"/>
            <a:ext cx="5246507" cy="6858000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03EBBF05-DF7E-1260-F0D8-9A3B5FA170F4}"/>
              </a:ext>
            </a:extLst>
          </p:cNvPr>
          <p:cNvSpPr/>
          <p:nvPr/>
        </p:nvSpPr>
        <p:spPr>
          <a:xfrm>
            <a:off x="1819922" y="4980374"/>
            <a:ext cx="8575829" cy="16512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sr-Cyrl-RS" dirty="0"/>
              <a:t>Обмотач</a:t>
            </a:r>
            <a:endParaRPr lang="en-US" dirty="0"/>
          </a:p>
        </p:txBody>
      </p:sp>
      <p:sp>
        <p:nvSpPr>
          <p:cNvPr id="65" name="Cylinder 64">
            <a:extLst>
              <a:ext uri="{FF2B5EF4-FFF2-40B4-BE49-F238E27FC236}">
                <a16:creationId xmlns:a16="http://schemas.microsoft.com/office/drawing/2014/main" id="{3FFE9E07-9B2A-D086-61CD-C2398F086199}"/>
              </a:ext>
            </a:extLst>
          </p:cNvPr>
          <p:cNvSpPr/>
          <p:nvPr/>
        </p:nvSpPr>
        <p:spPr>
          <a:xfrm>
            <a:off x="5193815" y="510671"/>
            <a:ext cx="1804370" cy="1464815"/>
          </a:xfrm>
          <a:prstGeom prst="ca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>
                <a:latin typeface="Arial" panose="020B0604020202020204" pitchFamily="34" charset="0"/>
                <a:cs typeface="Arial" panose="020B0604020202020204" pitchFamily="34" charset="0"/>
              </a:rPr>
              <a:t>База података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Cylinder 70">
            <a:extLst>
              <a:ext uri="{FF2B5EF4-FFF2-40B4-BE49-F238E27FC236}">
                <a16:creationId xmlns:a16="http://schemas.microsoft.com/office/drawing/2014/main" id="{097704B3-756F-5C1A-2C20-5A33C7DA5FE8}"/>
              </a:ext>
            </a:extLst>
          </p:cNvPr>
          <p:cNvSpPr/>
          <p:nvPr/>
        </p:nvSpPr>
        <p:spPr>
          <a:xfrm>
            <a:off x="2207235" y="510673"/>
            <a:ext cx="1804370" cy="1464815"/>
          </a:xfrm>
          <a:prstGeom prst="ca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>
                <a:latin typeface="Arial" panose="020B0604020202020204" pitchFamily="34" charset="0"/>
                <a:cs typeface="Arial" panose="020B0604020202020204" pitchFamily="34" charset="0"/>
              </a:rPr>
              <a:t>База података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Cylinder 72">
            <a:extLst>
              <a:ext uri="{FF2B5EF4-FFF2-40B4-BE49-F238E27FC236}">
                <a16:creationId xmlns:a16="http://schemas.microsoft.com/office/drawing/2014/main" id="{E93088D3-061A-6C7F-DAC4-E15CF1DA028C}"/>
              </a:ext>
            </a:extLst>
          </p:cNvPr>
          <p:cNvSpPr/>
          <p:nvPr/>
        </p:nvSpPr>
        <p:spPr>
          <a:xfrm>
            <a:off x="8180395" y="510672"/>
            <a:ext cx="1804370" cy="1464815"/>
          </a:xfrm>
          <a:prstGeom prst="ca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>
                <a:latin typeface="Arial" panose="020B0604020202020204" pitchFamily="34" charset="0"/>
                <a:cs typeface="Arial" panose="020B0604020202020204" pitchFamily="34" charset="0"/>
              </a:rPr>
              <a:t>База података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3050BECC-2345-5DBD-1C79-8D4468C5B99B}"/>
              </a:ext>
            </a:extLst>
          </p:cNvPr>
          <p:cNvSpPr/>
          <p:nvPr/>
        </p:nvSpPr>
        <p:spPr>
          <a:xfrm>
            <a:off x="2112917" y="2479090"/>
            <a:ext cx="2003021" cy="115409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 err="1"/>
              <a:t>Микросервис</a:t>
            </a:r>
            <a:endParaRPr lang="en-US" dirty="0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978F5FEF-AAD4-961C-29AE-A8BF5BAE8846}"/>
              </a:ext>
            </a:extLst>
          </p:cNvPr>
          <p:cNvSpPr/>
          <p:nvPr/>
        </p:nvSpPr>
        <p:spPr>
          <a:xfrm>
            <a:off x="5103099" y="2479089"/>
            <a:ext cx="2003021" cy="115409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/>
              <a:t>Микросервис</a:t>
            </a:r>
            <a:endParaRPr lang="en-US" dirty="0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AAFE739C-363C-2699-9469-CCBC1C8FA9D3}"/>
              </a:ext>
            </a:extLst>
          </p:cNvPr>
          <p:cNvSpPr/>
          <p:nvPr/>
        </p:nvSpPr>
        <p:spPr>
          <a:xfrm>
            <a:off x="8086078" y="2479089"/>
            <a:ext cx="2003021" cy="115409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/>
              <a:t>Микросервис</a:t>
            </a:r>
            <a:endParaRPr lang="en-US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0713ADC-DA4E-BC78-F5B1-19C630D1421A}"/>
              </a:ext>
            </a:extLst>
          </p:cNvPr>
          <p:cNvSpPr/>
          <p:nvPr/>
        </p:nvSpPr>
        <p:spPr>
          <a:xfrm>
            <a:off x="2112917" y="5388746"/>
            <a:ext cx="2003021" cy="9497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Микрофронтенд</a:t>
            </a:r>
            <a:endParaRPr lang="en-US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C15174F-BAAF-67BF-996E-A259CC7802E7}"/>
              </a:ext>
            </a:extLst>
          </p:cNvPr>
          <p:cNvSpPr/>
          <p:nvPr/>
        </p:nvSpPr>
        <p:spPr>
          <a:xfrm>
            <a:off x="5094489" y="5388746"/>
            <a:ext cx="2003021" cy="9497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Микрофронтенд</a:t>
            </a:r>
            <a:endParaRPr lang="en-US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3FF8116-F261-04FF-8A5B-71DE71BE54F0}"/>
              </a:ext>
            </a:extLst>
          </p:cNvPr>
          <p:cNvSpPr/>
          <p:nvPr/>
        </p:nvSpPr>
        <p:spPr>
          <a:xfrm>
            <a:off x="8076061" y="5388745"/>
            <a:ext cx="2003021" cy="9497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Микрофронтенд</a:t>
            </a:r>
            <a:endParaRPr lang="en-US" dirty="0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7AAA14D6-4327-6FDC-CB81-EC2EBF53E791}"/>
              </a:ext>
            </a:extLst>
          </p:cNvPr>
          <p:cNvSpPr/>
          <p:nvPr/>
        </p:nvSpPr>
        <p:spPr>
          <a:xfrm>
            <a:off x="4954305" y="3956214"/>
            <a:ext cx="2300610" cy="70113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API </a:t>
            </a:r>
            <a:r>
              <a:rPr lang="sr-Cyrl-RS" dirty="0"/>
              <a:t>Капија</a:t>
            </a:r>
            <a:endParaRPr lang="en-US" dirty="0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7E0AF1E2-38E7-8F20-79CB-6529327367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969774" y="6096698"/>
            <a:ext cx="448081" cy="388337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63B8E014-6B93-FCF2-28E0-F72171290C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893315" y="3165030"/>
            <a:ext cx="512611" cy="512611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61EAB2D6-BDDD-02BD-CACB-DF9DB75D9C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062882" y="1491284"/>
            <a:ext cx="434322" cy="455673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383351C7-DDDC-0A04-E4FD-590945AE4FD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0" b="100000" l="0" r="96875">
                        <a14:foregroundMark x1="32188" y1="16406" x2="69063" y2="18125"/>
                        <a14:foregroundMark x1="17500" y1="26563" x2="13125" y2="45625"/>
                        <a14:foregroundMark x1="21563" y1="75313" x2="14219" y2="37969"/>
                        <a14:foregroundMark x1="22344" y1="64531" x2="87656" y2="59844"/>
                        <a14:foregroundMark x1="73594" y1="86094" x2="91719" y2="40938"/>
                        <a14:foregroundMark x1="96875" y1="41719" x2="96719" y2="55156"/>
                        <a14:foregroundMark x1="51875" y1="6719" x2="39844" y2="5000"/>
                        <a14:backgroundMark x1="9063" y1="90938" x2="6875" y2="86094"/>
                        <a14:backgroundMark x1="5313" y1="18281" x2="8125" y2="11719"/>
                        <a14:backgroundMark x1="33438" y1="47188" x2="32031" y2="45313"/>
                        <a14:backgroundMark x1="51875" y1="44063" x2="51875" y2="42031"/>
                        <a14:backgroundMark x1="33906" y1="76406" x2="32813" y2="75156"/>
                        <a14:backgroundMark x1="44844" y1="76875" x2="43438" y2="74063"/>
                        <a14:backgroundMark x1="55000" y1="74688" x2="55000" y2="72656"/>
                        <a14:backgroundMark x1="60781" y1="74375" x2="61563" y2="71563"/>
                        <a14:backgroundMark x1="11563" y1="56094" x2="11094" y2="55469"/>
                      </a14:backgroundRemoval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1865122" y="3134038"/>
            <a:ext cx="574596" cy="574596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2B1337A6-0018-A12C-3951-21BA001CF2B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7923577" y="3119553"/>
            <a:ext cx="513633" cy="513633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EB80074B-EBE7-C50C-7D46-BF508C5C15F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837473B0-CC2E-450A-ABE3-18F120FF3D39}">
                <a1611:picAttrSrcUrl xmlns:a1611="http://schemas.microsoft.com/office/drawing/2016/11/main" r:id="rId15"/>
              </a:ext>
            </a:extLst>
          </a:blip>
          <a:srcRect r="86160"/>
          <a:stretch/>
        </p:blipFill>
        <p:spPr>
          <a:xfrm>
            <a:off x="2028610" y="1349564"/>
            <a:ext cx="378865" cy="739114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CEAE7119-D7FD-5B02-5A92-9F1EFC74761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837473B0-CC2E-450A-ABE3-18F120FF3D39}">
                <a1611:picAttrSrcUrl xmlns:a1611="http://schemas.microsoft.com/office/drawing/2016/11/main" r:id="rId17"/>
              </a:ext>
            </a:extLst>
          </a:blip>
          <a:stretch>
            <a:fillRect/>
          </a:stretch>
        </p:blipFill>
        <p:spPr>
          <a:xfrm>
            <a:off x="7893095" y="1413005"/>
            <a:ext cx="574599" cy="574599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977CCF5F-1A7D-EE34-2667-3899F5D099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837473B0-CC2E-450A-ABE3-18F120FF3D39}">
                <a1611:picAttrSrcUrl xmlns:a1611="http://schemas.microsoft.com/office/drawing/2016/11/main" r:id="rId19"/>
              </a:ext>
            </a:extLst>
          </a:blip>
          <a:stretch>
            <a:fillRect/>
          </a:stretch>
        </p:blipFill>
        <p:spPr>
          <a:xfrm>
            <a:off x="7821508" y="5944852"/>
            <a:ext cx="925122" cy="578201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C9F01AC1-1277-66FD-DEDB-2C97860504F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837473B0-CC2E-450A-ABE3-18F120FF3D39}">
                <a1611:picAttrSrcUrl xmlns:a1611="http://schemas.microsoft.com/office/drawing/2016/11/main" r:id="rId21"/>
              </a:ext>
            </a:extLst>
          </a:blip>
          <a:stretch>
            <a:fillRect/>
          </a:stretch>
        </p:blipFill>
        <p:spPr>
          <a:xfrm>
            <a:off x="1873300" y="6012750"/>
            <a:ext cx="574601" cy="510303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29C3F331-D03B-0D23-F418-8E18CC05AE6E}"/>
              </a:ext>
            </a:extLst>
          </p:cNvPr>
          <p:cNvSpPr txBox="1"/>
          <p:nvPr/>
        </p:nvSpPr>
        <p:spPr>
          <a:xfrm>
            <a:off x="10488934" y="887056"/>
            <a:ext cx="1544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dirty="0">
                <a:solidFill>
                  <a:schemeClr val="bg1"/>
                </a:solidFill>
              </a:rPr>
              <a:t>Слој података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A38DD13-6C48-B373-EFB5-FB64A0E272C7}"/>
              </a:ext>
            </a:extLst>
          </p:cNvPr>
          <p:cNvSpPr txBox="1"/>
          <p:nvPr/>
        </p:nvSpPr>
        <p:spPr>
          <a:xfrm>
            <a:off x="10488933" y="2522740"/>
            <a:ext cx="1544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dirty="0">
                <a:solidFill>
                  <a:schemeClr val="bg1"/>
                </a:solidFill>
              </a:rPr>
              <a:t>Слој пословне логике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65037CC-8E2C-5F42-BE2C-97CAD436F470}"/>
              </a:ext>
            </a:extLst>
          </p:cNvPr>
          <p:cNvSpPr txBox="1"/>
          <p:nvPr/>
        </p:nvSpPr>
        <p:spPr>
          <a:xfrm>
            <a:off x="10488933" y="5330200"/>
            <a:ext cx="1544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dirty="0">
                <a:solidFill>
                  <a:schemeClr val="bg1"/>
                </a:solidFill>
              </a:rPr>
              <a:t>Слој корисничког</a:t>
            </a:r>
          </a:p>
          <a:p>
            <a:pPr algn="ctr"/>
            <a:r>
              <a:rPr lang="sr-Cyrl-RS" dirty="0">
                <a:solidFill>
                  <a:schemeClr val="bg1"/>
                </a:solidFill>
              </a:rPr>
              <a:t>интерфејса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875189BB-76AB-4588-1E58-F3B9F575CC71}"/>
              </a:ext>
            </a:extLst>
          </p:cNvPr>
          <p:cNvCxnSpPr>
            <a:cxnSpLocks/>
            <a:stCxn id="80" idx="0"/>
            <a:endCxn id="71" idx="3"/>
          </p:cNvCxnSpPr>
          <p:nvPr/>
        </p:nvCxnSpPr>
        <p:spPr>
          <a:xfrm flipH="1" flipV="1">
            <a:off x="3109420" y="1975488"/>
            <a:ext cx="5008" cy="503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EF596807-14CF-4F69-3A2C-7154A9A53343}"/>
              </a:ext>
            </a:extLst>
          </p:cNvPr>
          <p:cNvCxnSpPr>
            <a:cxnSpLocks/>
            <a:stCxn id="82" idx="0"/>
            <a:endCxn id="65" idx="3"/>
          </p:cNvCxnSpPr>
          <p:nvPr/>
        </p:nvCxnSpPr>
        <p:spPr>
          <a:xfrm flipH="1" flipV="1">
            <a:off x="6096000" y="1975486"/>
            <a:ext cx="8610" cy="503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F5E47B2D-9689-652D-80FD-6A138B553DDB}"/>
              </a:ext>
            </a:extLst>
          </p:cNvPr>
          <p:cNvCxnSpPr>
            <a:cxnSpLocks/>
            <a:stCxn id="84" idx="0"/>
            <a:endCxn id="73" idx="3"/>
          </p:cNvCxnSpPr>
          <p:nvPr/>
        </p:nvCxnSpPr>
        <p:spPr>
          <a:xfrm flipH="1" flipV="1">
            <a:off x="9082580" y="1975487"/>
            <a:ext cx="5009" cy="503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1973B776-CC47-1ACF-6A26-0BBF01698CA5}"/>
              </a:ext>
            </a:extLst>
          </p:cNvPr>
          <p:cNvCxnSpPr>
            <a:cxnSpLocks/>
            <a:stCxn id="93" idx="0"/>
            <a:endCxn id="80" idx="2"/>
          </p:cNvCxnSpPr>
          <p:nvPr/>
        </p:nvCxnSpPr>
        <p:spPr>
          <a:xfrm flipH="1" flipV="1">
            <a:off x="3114428" y="3633187"/>
            <a:ext cx="2990182" cy="323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9903BF60-EC57-A656-B494-8ED6DD28D34C}"/>
              </a:ext>
            </a:extLst>
          </p:cNvPr>
          <p:cNvCxnSpPr>
            <a:cxnSpLocks/>
            <a:stCxn id="93" idx="0"/>
            <a:endCxn id="82" idx="2"/>
          </p:cNvCxnSpPr>
          <p:nvPr/>
        </p:nvCxnSpPr>
        <p:spPr>
          <a:xfrm flipV="1">
            <a:off x="6104610" y="3633186"/>
            <a:ext cx="0" cy="323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436CA263-2864-3178-780B-C54C378EFE40}"/>
              </a:ext>
            </a:extLst>
          </p:cNvPr>
          <p:cNvCxnSpPr>
            <a:cxnSpLocks/>
            <a:stCxn id="93" idx="0"/>
            <a:endCxn id="84" idx="2"/>
          </p:cNvCxnSpPr>
          <p:nvPr/>
        </p:nvCxnSpPr>
        <p:spPr>
          <a:xfrm flipV="1">
            <a:off x="6104610" y="3633186"/>
            <a:ext cx="2982979" cy="323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DCE0482F-D4B7-205A-35F8-46A20434A99B}"/>
              </a:ext>
            </a:extLst>
          </p:cNvPr>
          <p:cNvCxnSpPr>
            <a:cxnSpLocks/>
            <a:stCxn id="85" idx="0"/>
            <a:endCxn id="93" idx="2"/>
          </p:cNvCxnSpPr>
          <p:nvPr/>
        </p:nvCxnSpPr>
        <p:spPr>
          <a:xfrm flipV="1">
            <a:off x="3114428" y="4657345"/>
            <a:ext cx="2990182" cy="731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D72A3322-F62E-D32C-42E1-561661553AB1}"/>
              </a:ext>
            </a:extLst>
          </p:cNvPr>
          <p:cNvCxnSpPr>
            <a:cxnSpLocks/>
            <a:stCxn id="87" idx="0"/>
            <a:endCxn id="93" idx="2"/>
          </p:cNvCxnSpPr>
          <p:nvPr/>
        </p:nvCxnSpPr>
        <p:spPr>
          <a:xfrm flipV="1">
            <a:off x="6096000" y="4657345"/>
            <a:ext cx="8610" cy="731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6172DECC-9E06-1EF0-CBB8-31C5B4AB18C5}"/>
              </a:ext>
            </a:extLst>
          </p:cNvPr>
          <p:cNvCxnSpPr>
            <a:cxnSpLocks/>
            <a:stCxn id="89" idx="0"/>
            <a:endCxn id="93" idx="2"/>
          </p:cNvCxnSpPr>
          <p:nvPr/>
        </p:nvCxnSpPr>
        <p:spPr>
          <a:xfrm flipH="1" flipV="1">
            <a:off x="6104610" y="4657345"/>
            <a:ext cx="2972962" cy="731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278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1313A1-C5C5-B215-0339-6622B4CC2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B44C5B4E-9525-9706-4CF5-FAAAB2B1B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1267983">
            <a:off x="9273720" y="1206968"/>
            <a:ext cx="5246507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9504BD-F2BF-DCCE-BC03-23CCDC7D7A33}"/>
              </a:ext>
            </a:extLst>
          </p:cNvPr>
          <p:cNvSpPr txBox="1"/>
          <p:nvPr/>
        </p:nvSpPr>
        <p:spPr>
          <a:xfrm>
            <a:off x="0" y="897000"/>
            <a:ext cx="12192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5400" dirty="0">
                <a:solidFill>
                  <a:schemeClr val="bg1"/>
                </a:solidFill>
              </a:rPr>
              <a:t>„</a:t>
            </a:r>
            <a:r>
              <a:rPr lang="sr-Cyrl-RS" sz="5400" b="1" dirty="0">
                <a:solidFill>
                  <a:schemeClr val="bg1"/>
                </a:solidFill>
              </a:rPr>
              <a:t>Микрофронтендови</a:t>
            </a:r>
            <a:r>
              <a:rPr lang="sr-Cyrl-RS" sz="5400" dirty="0">
                <a:solidFill>
                  <a:schemeClr val="bg1"/>
                </a:solidFill>
              </a:rPr>
              <a:t> су </a:t>
            </a:r>
            <a:r>
              <a:rPr lang="sr-Cyrl-RS" sz="5400" dirty="0">
                <a:solidFill>
                  <a:schemeClr val="accent4"/>
                </a:solidFill>
              </a:rPr>
              <a:t>техничка репрезентација пословних поддомена</a:t>
            </a:r>
            <a:r>
              <a:rPr lang="sr-Cyrl-RS" sz="5400" dirty="0">
                <a:solidFill>
                  <a:schemeClr val="bg1"/>
                </a:solidFill>
              </a:rPr>
              <a:t>, који омогућавају </a:t>
            </a:r>
            <a:r>
              <a:rPr lang="sr-Cyrl-RS" sz="5400" dirty="0">
                <a:solidFill>
                  <a:schemeClr val="accent5"/>
                </a:solidFill>
              </a:rPr>
              <a:t>независне имплементације </a:t>
            </a:r>
            <a:r>
              <a:rPr lang="sr-Cyrl-RS" sz="5400" dirty="0">
                <a:solidFill>
                  <a:schemeClr val="bg1"/>
                </a:solidFill>
              </a:rPr>
              <a:t>коришћењем </a:t>
            </a:r>
            <a:r>
              <a:rPr lang="sr-Cyrl-RS" sz="5400" dirty="0">
                <a:solidFill>
                  <a:schemeClr val="accent3"/>
                </a:solidFill>
              </a:rPr>
              <a:t>истих или различитих технологија</a:t>
            </a:r>
            <a:r>
              <a:rPr lang="sr-Cyrl-RS" sz="5400" dirty="0">
                <a:solidFill>
                  <a:schemeClr val="bg1"/>
                </a:solidFill>
              </a:rPr>
              <a:t>“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1696DD-8988-6C9C-B118-1B90790BC11A}"/>
              </a:ext>
            </a:extLst>
          </p:cNvPr>
          <p:cNvSpPr txBox="1"/>
          <p:nvPr/>
        </p:nvSpPr>
        <p:spPr>
          <a:xfrm>
            <a:off x="9753600" y="6165813"/>
            <a:ext cx="2305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400" i="1" dirty="0" err="1">
                <a:solidFill>
                  <a:schemeClr val="bg1"/>
                </a:solidFill>
                <a:sym typeface="Wingdings" panose="05000000000000000000" pitchFamily="2" charset="2"/>
              </a:rPr>
              <a:t>Luca</a:t>
            </a:r>
            <a:r>
              <a:rPr lang="sr-Latn-RS" sz="2400" i="1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sr-Latn-RS" sz="2400" i="1" dirty="0" err="1">
                <a:solidFill>
                  <a:schemeClr val="bg1"/>
                </a:solidFill>
                <a:sym typeface="Wingdings" panose="05000000000000000000" pitchFamily="2" charset="2"/>
              </a:rPr>
              <a:t>Mezzalira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525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86037D-1749-838C-AEF2-108CAB933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C25F6CC3-30C5-AF70-12C5-C93676060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978074">
            <a:off x="7978321" y="-1536232"/>
            <a:ext cx="5246507" cy="6858000"/>
          </a:xfrm>
          <a:prstGeom prst="rect">
            <a:avLst/>
          </a:prstGeom>
        </p:spPr>
      </p:pic>
      <p:sp>
        <p:nvSpPr>
          <p:cNvPr id="111" name="Rectangle 110">
            <a:extLst>
              <a:ext uri="{FF2B5EF4-FFF2-40B4-BE49-F238E27FC236}">
                <a16:creationId xmlns:a16="http://schemas.microsoft.com/office/drawing/2014/main" id="{CB2E39DA-DFD2-17A7-CBC7-834EB7E68CBD}"/>
              </a:ext>
            </a:extLst>
          </p:cNvPr>
          <p:cNvSpPr/>
          <p:nvPr/>
        </p:nvSpPr>
        <p:spPr>
          <a:xfrm>
            <a:off x="5267338" y="1676400"/>
            <a:ext cx="6677011" cy="363855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sr-Cyrl-RS" sz="1600" b="1" dirty="0"/>
              <a:t>Преглед</a:t>
            </a:r>
            <a:endParaRPr lang="en-US" sz="1600" b="1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F7EB956-114E-C1BE-244F-CDD7CCAC73AC}"/>
              </a:ext>
            </a:extLst>
          </p:cNvPr>
          <p:cNvSpPr/>
          <p:nvPr/>
        </p:nvSpPr>
        <p:spPr>
          <a:xfrm>
            <a:off x="3210373" y="2665184"/>
            <a:ext cx="1563286" cy="186687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sr-Cyrl-RS" sz="1600" b="1" dirty="0"/>
              <a:t>Календар</a:t>
            </a:r>
            <a:endParaRPr lang="en-US" sz="1600" b="1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1E13E8D7-C444-73B4-CAA1-EEDA2745BF2E}"/>
              </a:ext>
            </a:extLst>
          </p:cNvPr>
          <p:cNvSpPr/>
          <p:nvPr/>
        </p:nvSpPr>
        <p:spPr>
          <a:xfrm>
            <a:off x="1184730" y="2665184"/>
            <a:ext cx="1970240" cy="186687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sr-Cyrl-RS" sz="1600" b="1" dirty="0"/>
              <a:t>Аутентификација</a:t>
            </a:r>
            <a:endParaRPr lang="en-US" sz="1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A926B9-A6F3-1396-7AE0-5FCC366EB13D}"/>
              </a:ext>
            </a:extLst>
          </p:cNvPr>
          <p:cNvSpPr txBox="1"/>
          <p:nvPr/>
        </p:nvSpPr>
        <p:spPr>
          <a:xfrm>
            <a:off x="2346297" y="323815"/>
            <a:ext cx="79163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4400" dirty="0">
                <a:solidFill>
                  <a:schemeClr val="bg1"/>
                </a:solidFill>
                <a:latin typeface="Arial Black" panose="020B0A04020102020204" pitchFamily="34" charset="0"/>
              </a:rPr>
              <a:t>Студијски пример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E2FB60E-69D1-138E-ABF7-E77ADE24AC57}"/>
              </a:ext>
            </a:extLst>
          </p:cNvPr>
          <p:cNvSpPr/>
          <p:nvPr/>
        </p:nvSpPr>
        <p:spPr>
          <a:xfrm>
            <a:off x="1429586" y="3229379"/>
            <a:ext cx="1330242" cy="7694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Пријава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296AE62-7FB7-F2B2-20A8-2223ED10B0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7" y="3072597"/>
            <a:ext cx="1082991" cy="1082991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0A0057D-9984-E608-4420-E3D8BF1080DC}"/>
              </a:ext>
            </a:extLst>
          </p:cNvPr>
          <p:cNvSpPr/>
          <p:nvPr/>
        </p:nvSpPr>
        <p:spPr>
          <a:xfrm>
            <a:off x="3326895" y="3229376"/>
            <a:ext cx="1330242" cy="7694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Заказани термини</a:t>
            </a:r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1C63E08-00A3-0AA3-EB13-9EB13D9AF624}"/>
              </a:ext>
            </a:extLst>
          </p:cNvPr>
          <p:cNvSpPr/>
          <p:nvPr/>
        </p:nvSpPr>
        <p:spPr>
          <a:xfrm>
            <a:off x="5694271" y="3229376"/>
            <a:ext cx="1330242" cy="7694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Прозивка</a:t>
            </a:r>
            <a:endParaRPr lang="en-US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C9E6092-E945-B1A5-A7C4-02DA6A1B3F11}"/>
              </a:ext>
            </a:extLst>
          </p:cNvPr>
          <p:cNvSpPr/>
          <p:nvPr/>
        </p:nvSpPr>
        <p:spPr>
          <a:xfrm>
            <a:off x="8423358" y="1755891"/>
            <a:ext cx="1330242" cy="7694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Анамнеза</a:t>
            </a:r>
            <a:endParaRPr lang="en-US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FBF0001-7644-5E5D-658E-EDEAEDD2CF30}"/>
              </a:ext>
            </a:extLst>
          </p:cNvPr>
          <p:cNvSpPr/>
          <p:nvPr/>
        </p:nvSpPr>
        <p:spPr>
          <a:xfrm>
            <a:off x="8030830" y="2665184"/>
            <a:ext cx="1957245" cy="143036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sr-Cyrl-RS" sz="1600" b="1" dirty="0"/>
              <a:t>Каталог болести</a:t>
            </a:r>
            <a:endParaRPr lang="en-US" sz="1600" b="1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F9121B5-9D0A-1C97-DABD-5C6E6D203D66}"/>
              </a:ext>
            </a:extLst>
          </p:cNvPr>
          <p:cNvSpPr/>
          <p:nvPr/>
        </p:nvSpPr>
        <p:spPr>
          <a:xfrm>
            <a:off x="8423360" y="4312593"/>
            <a:ext cx="1330242" cy="7694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Терапија</a:t>
            </a:r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8670729-70B5-869E-33FC-737AB81E74F5}"/>
              </a:ext>
            </a:extLst>
          </p:cNvPr>
          <p:cNvSpPr/>
          <p:nvPr/>
        </p:nvSpPr>
        <p:spPr>
          <a:xfrm>
            <a:off x="10476825" y="3213899"/>
            <a:ext cx="1330242" cy="7694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Извештај</a:t>
            </a:r>
            <a:endParaRPr lang="en-US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8F248B8-BAD7-5167-1186-3293E68A9468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 flipV="1">
            <a:off x="2759828" y="3614098"/>
            <a:ext cx="567067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780F5CB-2385-8412-5BB7-264BF97C1219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4657137" y="3614098"/>
            <a:ext cx="103713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11679AE-9C58-5816-8C1F-1AD030C13E05}"/>
              </a:ext>
            </a:extLst>
          </p:cNvPr>
          <p:cNvCxnSpPr>
            <a:cxnSpLocks/>
          </p:cNvCxnSpPr>
          <p:nvPr/>
        </p:nvCxnSpPr>
        <p:spPr>
          <a:xfrm>
            <a:off x="7778750" y="3249371"/>
            <a:ext cx="0" cy="69850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ED66307-AF6D-69FC-1723-7B532EDE2F6B}"/>
              </a:ext>
            </a:extLst>
          </p:cNvPr>
          <p:cNvCxnSpPr/>
          <p:nvPr/>
        </p:nvCxnSpPr>
        <p:spPr>
          <a:xfrm>
            <a:off x="10160000" y="3274841"/>
            <a:ext cx="0" cy="69850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E9EDEA3-9E03-2B26-0A7F-AC264CA1A79D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7024513" y="3614098"/>
            <a:ext cx="754237" cy="99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4FEADA8-5FCE-1453-F0E7-EB1960922943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10196513" y="3598621"/>
            <a:ext cx="28031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41C80292-5335-95D0-05F1-5079885DEEF7}"/>
              </a:ext>
            </a:extLst>
          </p:cNvPr>
          <p:cNvCxnSpPr>
            <a:cxnSpLocks/>
            <a:endCxn id="22" idx="1"/>
          </p:cNvCxnSpPr>
          <p:nvPr/>
        </p:nvCxnSpPr>
        <p:spPr>
          <a:xfrm rot="5400000" flipH="1" flipV="1">
            <a:off x="7372050" y="2547313"/>
            <a:ext cx="1458008" cy="64460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53A9880A-3FFE-40D6-802B-6B93BC046DC5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7800975" y="3598621"/>
            <a:ext cx="62238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4FD78F9E-1C81-111B-4414-8417DD23119B}"/>
              </a:ext>
            </a:extLst>
          </p:cNvPr>
          <p:cNvCxnSpPr>
            <a:cxnSpLocks/>
            <a:endCxn id="26" idx="1"/>
          </p:cNvCxnSpPr>
          <p:nvPr/>
        </p:nvCxnSpPr>
        <p:spPr>
          <a:xfrm rot="16200000" flipH="1">
            <a:off x="7573535" y="3847490"/>
            <a:ext cx="1055040" cy="64461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1785F75B-261C-BE82-4C15-04ED2D4EF0AC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9753600" y="2140613"/>
            <a:ext cx="406400" cy="145800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AE00109A-F97C-C4FA-C5D8-F3120675CBC6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9753600" y="3593144"/>
            <a:ext cx="426244" cy="54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B6ADE82B-3D05-F83F-C2B5-0B23F5227EE4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9753602" y="3608621"/>
            <a:ext cx="406398" cy="108869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7ABEB2BC-BCFE-1130-107E-07C045334389}"/>
              </a:ext>
            </a:extLst>
          </p:cNvPr>
          <p:cNvCxnSpPr>
            <a:cxnSpLocks/>
            <a:stCxn id="28" idx="2"/>
            <a:endCxn id="16" idx="2"/>
          </p:cNvCxnSpPr>
          <p:nvPr/>
        </p:nvCxnSpPr>
        <p:spPr>
          <a:xfrm rot="5400000">
            <a:off x="7559243" y="416115"/>
            <a:ext cx="15477" cy="7149930"/>
          </a:xfrm>
          <a:prstGeom prst="bentConnector3">
            <a:avLst>
              <a:gd name="adj1" fmla="val 7608238"/>
            </a:avLst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FC96980D-9084-D9B4-AD26-191E9A95B777}"/>
              </a:ext>
            </a:extLst>
          </p:cNvPr>
          <p:cNvCxnSpPr>
            <a:cxnSpLocks/>
            <a:stCxn id="15" idx="3"/>
            <a:endCxn id="12" idx="1"/>
          </p:cNvCxnSpPr>
          <p:nvPr/>
        </p:nvCxnSpPr>
        <p:spPr>
          <a:xfrm>
            <a:off x="1148218" y="3614093"/>
            <a:ext cx="281368" cy="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D71499F-A09D-F767-BE95-457FECC7C191}"/>
              </a:ext>
            </a:extLst>
          </p:cNvPr>
          <p:cNvSpPr/>
          <p:nvPr/>
        </p:nvSpPr>
        <p:spPr>
          <a:xfrm>
            <a:off x="8423358" y="3213899"/>
            <a:ext cx="1330242" cy="7694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Дијагноза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769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7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7" dur="2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2" dur="2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 animBg="1"/>
      <p:bldP spid="101" grpId="0" animBg="1"/>
      <p:bldP spid="99" grpId="0" animBg="1"/>
      <p:bldP spid="12" grpId="0" animBg="1"/>
      <p:bldP spid="16" grpId="0" animBg="1"/>
      <p:bldP spid="18" grpId="0" animBg="1"/>
      <p:bldP spid="22" grpId="0" animBg="1"/>
      <p:bldP spid="112" grpId="0" animBg="1"/>
      <p:bldP spid="26" grpId="0" animBg="1"/>
      <p:bldP spid="28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489516-A19D-969A-CA05-6D113F178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EC8A5EEB-B91A-EB0E-496B-2F1B94792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945491">
            <a:off x="-1066800" y="-3295650"/>
            <a:ext cx="5246507" cy="685800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D2AD26-8249-6137-3C91-65655081A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949236"/>
              </p:ext>
            </p:extLst>
          </p:nvPr>
        </p:nvGraphicFramePr>
        <p:xfrm>
          <a:off x="1005114" y="388933"/>
          <a:ext cx="10181772" cy="574516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90886">
                  <a:extLst>
                    <a:ext uri="{9D8B030D-6E8A-4147-A177-3AD203B41FA5}">
                      <a16:colId xmlns:a16="http://schemas.microsoft.com/office/drawing/2014/main" val="3807830642"/>
                    </a:ext>
                  </a:extLst>
                </a:gridCol>
                <a:gridCol w="5090886">
                  <a:extLst>
                    <a:ext uri="{9D8B030D-6E8A-4147-A177-3AD203B41FA5}">
                      <a16:colId xmlns:a16="http://schemas.microsoft.com/office/drawing/2014/main" val="3005007546"/>
                    </a:ext>
                  </a:extLst>
                </a:gridCol>
              </a:tblGrid>
              <a:tr h="799367">
                <a:tc>
                  <a:txBody>
                    <a:bodyPr/>
                    <a:lstStyle/>
                    <a:p>
                      <a:pPr algn="ctr"/>
                      <a:r>
                        <a:rPr lang="sr-Cyrl-RS" sz="2800" dirty="0"/>
                        <a:t>Микрофронтенд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Cyrl-RS" sz="2800" dirty="0"/>
                        <a:t>Радни оквир</a:t>
                      </a:r>
                      <a:endParaRPr 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7572536"/>
                  </a:ext>
                </a:extLst>
              </a:tr>
              <a:tr h="770687">
                <a:tc>
                  <a:txBody>
                    <a:bodyPr/>
                    <a:lstStyle/>
                    <a:p>
                      <a:pPr algn="ctr"/>
                      <a:r>
                        <a:rPr lang="sr-Cyrl-RS" sz="2000" dirty="0"/>
                        <a:t>Аутентификација</a:t>
                      </a:r>
                      <a:r>
                        <a:rPr lang="sr-Latn-RS" sz="2000" dirty="0"/>
                        <a:t> </a:t>
                      </a:r>
                      <a:r>
                        <a:rPr lang="sr-Cyrl-RS" sz="2000" dirty="0"/>
                        <a:t>(приступ и идентитет)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1762232"/>
                  </a:ext>
                </a:extLst>
              </a:tr>
              <a:tr h="1048124">
                <a:tc>
                  <a:txBody>
                    <a:bodyPr/>
                    <a:lstStyle/>
                    <a:p>
                      <a:pPr algn="ctr"/>
                      <a:r>
                        <a:rPr lang="sr-Cyrl-RS" sz="2000" dirty="0"/>
                        <a:t>Преглед (и документација)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Angular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3991346"/>
                  </a:ext>
                </a:extLst>
              </a:tr>
              <a:tr h="906777">
                <a:tc>
                  <a:txBody>
                    <a:bodyPr/>
                    <a:lstStyle/>
                    <a:p>
                      <a:pPr algn="ctr"/>
                      <a:r>
                        <a:rPr lang="sr-Cyrl-RS" sz="2000" dirty="0"/>
                        <a:t>Календар (заказивање)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6447880"/>
                  </a:ext>
                </a:extLst>
              </a:tr>
              <a:tr h="1192499">
                <a:tc>
                  <a:txBody>
                    <a:bodyPr/>
                    <a:lstStyle/>
                    <a:p>
                      <a:pPr algn="ctr"/>
                      <a:r>
                        <a:rPr lang="sr-Cyrl-RS" sz="2000" dirty="0"/>
                        <a:t>Каталог болести (шифарник МКБ-10)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Vue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4851355"/>
                  </a:ext>
                </a:extLst>
              </a:tr>
              <a:tr h="1027713">
                <a:tc>
                  <a:txBody>
                    <a:bodyPr/>
                    <a:lstStyle/>
                    <a:p>
                      <a:pPr algn="ctr"/>
                      <a:r>
                        <a:rPr lang="sr-Cyrl-RS" sz="2000" dirty="0"/>
                        <a:t>Навигација и футер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Cyrl-RS" sz="2000" dirty="0"/>
                        <a:t>Без радног оквира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953632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3A6D729-9DD5-AA68-8CE2-E59894D924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611624" y="1326729"/>
            <a:ext cx="574601" cy="5103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CB2ED6-B457-560E-8C3F-E967A73D03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611624" y="3259888"/>
            <a:ext cx="574601" cy="5103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57018D-9B75-6DAF-F59D-1ABC1E91B9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888761" y="4354336"/>
            <a:ext cx="448081" cy="3883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B39158-4585-3846-6A7A-3DBC8859E0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7426200" y="2196627"/>
            <a:ext cx="925122" cy="57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883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8D586-1545-0B97-DF7F-A9CD93948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5D6B1255-22F8-2E1B-08CE-B6D3D1841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4650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399165-B96F-03CA-5539-14D4D047DBE6}"/>
              </a:ext>
            </a:extLst>
          </p:cNvPr>
          <p:cNvSpPr txBox="1"/>
          <p:nvPr/>
        </p:nvSpPr>
        <p:spPr>
          <a:xfrm>
            <a:off x="2266950" y="2151727"/>
            <a:ext cx="76581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8000" b="1" dirty="0">
                <a:solidFill>
                  <a:schemeClr val="bg1"/>
                </a:solidFill>
              </a:rPr>
              <a:t>Видео снимак апликације</a:t>
            </a:r>
            <a:endParaRPr lang="en-US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422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8D586-1545-0B97-DF7F-A9CD93948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5D6B1255-22F8-2E1B-08CE-B6D3D1841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5528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D7FE0D-86E1-0EB9-F9A6-8316220D7184}"/>
              </a:ext>
            </a:extLst>
          </p:cNvPr>
          <p:cNvSpPr txBox="1"/>
          <p:nvPr/>
        </p:nvSpPr>
        <p:spPr>
          <a:xfrm>
            <a:off x="918069" y="185479"/>
            <a:ext cx="33191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4000" b="1" dirty="0">
                <a:solidFill>
                  <a:schemeClr val="bg1"/>
                </a:solidFill>
              </a:rPr>
              <a:t>Апликација</a:t>
            </a:r>
          </a:p>
          <a:p>
            <a:pPr algn="ctr"/>
            <a:r>
              <a:rPr lang="sr-Cyrl-RS" sz="4000" b="1" dirty="0">
                <a:solidFill>
                  <a:schemeClr val="bg1"/>
                </a:solidFill>
              </a:rPr>
              <a:t>обмотач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44AAE5-1827-A220-A039-D928E61EA0FA}"/>
              </a:ext>
            </a:extLst>
          </p:cNvPr>
          <p:cNvSpPr txBox="1"/>
          <p:nvPr/>
        </p:nvSpPr>
        <p:spPr>
          <a:xfrm>
            <a:off x="0" y="1694397"/>
            <a:ext cx="5155287" cy="3728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r-Cyrl-RS" sz="2000" dirty="0">
                <a:solidFill>
                  <a:schemeClr val="bg1"/>
                </a:solidFill>
              </a:rPr>
              <a:t>Родитељска апликација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r-Cyrl-RS" sz="2000" dirty="0">
                <a:solidFill>
                  <a:schemeClr val="bg1"/>
                </a:solidFill>
              </a:rPr>
              <a:t>Обједињује микрофронтендове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r-Cyrl-RS" sz="2000" dirty="0">
                <a:solidFill>
                  <a:schemeClr val="bg1"/>
                </a:solidFill>
              </a:rPr>
              <a:t>Не садржи пословну логику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r-Cyrl-RS" sz="2000" dirty="0">
                <a:solidFill>
                  <a:schemeClr val="bg1"/>
                </a:solidFill>
              </a:rPr>
              <a:t>Обезбеђује дељени </a:t>
            </a:r>
            <a:r>
              <a:rPr lang="en-US" sz="2000" dirty="0">
                <a:solidFill>
                  <a:schemeClr val="bg1"/>
                </a:solidFill>
              </a:rPr>
              <a:t>HTML </a:t>
            </a:r>
            <a:r>
              <a:rPr lang="sr-Cyrl-RS" sz="2000" dirty="0">
                <a:solidFill>
                  <a:schemeClr val="bg1"/>
                </a:solidFill>
              </a:rPr>
              <a:t>документ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r-Cyrl-RS" sz="2000" dirty="0">
                <a:solidFill>
                  <a:schemeClr val="bg1"/>
                </a:solidFill>
              </a:rPr>
              <a:t>Адресе преводи у странице тимова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r-Cyrl-RS" sz="2000" dirty="0">
                <a:solidFill>
                  <a:schemeClr val="bg1"/>
                </a:solidFill>
              </a:rPr>
              <a:t>Приказује одговарајућу страницу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При навигацији деиницијализује претходну и иницијализује следећу</a:t>
            </a:r>
            <a:endParaRPr lang="sr-Cyrl-RS" sz="200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0345FE-F550-2DD2-A000-1228DCF4F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5986" y="272420"/>
            <a:ext cx="7236014" cy="631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473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C3F63F-750E-2CF2-7359-E8C62CC5D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2E777EA5-EFE1-9006-29E7-924317323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128850">
            <a:off x="8306255" y="3121594"/>
            <a:ext cx="515528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A31FF7-CD44-0338-6FF2-7B6A8960E1A0}"/>
              </a:ext>
            </a:extLst>
          </p:cNvPr>
          <p:cNvSpPr txBox="1"/>
          <p:nvPr/>
        </p:nvSpPr>
        <p:spPr>
          <a:xfrm>
            <a:off x="1139371" y="307405"/>
            <a:ext cx="99132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4000" b="1" dirty="0">
                <a:solidFill>
                  <a:schemeClr val="bg1"/>
                </a:solidFill>
              </a:rPr>
              <a:t>Апликација обмотач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C0FB31-C90D-B3A8-DCDC-C74BBBE3E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93" y="1489061"/>
            <a:ext cx="7650480" cy="52133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41BCC05-5CC0-55FF-8032-4DE83F1767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698"/>
          <a:stretch>
            <a:fillRect/>
          </a:stretch>
        </p:blipFill>
        <p:spPr>
          <a:xfrm>
            <a:off x="5111082" y="1508918"/>
            <a:ext cx="7080918" cy="156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864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DD9654-91F4-514E-81E6-D95AC7AF1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CE0E175D-0263-2538-779B-85B79A33D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1654658">
            <a:off x="10713313" y="528824"/>
            <a:ext cx="5155287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E5850E-2CAF-BD68-8D73-363A376E24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109" r="32738" b="11073"/>
          <a:stretch>
            <a:fillRect/>
          </a:stretch>
        </p:blipFill>
        <p:spPr>
          <a:xfrm>
            <a:off x="1683657" y="2724150"/>
            <a:ext cx="8824686" cy="4133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9F5027-4E6E-15AF-1A2E-0EAB56828681}"/>
              </a:ext>
            </a:extLst>
          </p:cNvPr>
          <p:cNvSpPr txBox="1"/>
          <p:nvPr/>
        </p:nvSpPr>
        <p:spPr>
          <a:xfrm>
            <a:off x="5267053" y="174504"/>
            <a:ext cx="66842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r-Cyrl-RS" sz="3200" dirty="0">
                <a:solidFill>
                  <a:schemeClr val="bg1"/>
                </a:solidFill>
              </a:rPr>
              <a:t>Један микрофронтенд заузима цео екран</a:t>
            </a:r>
          </a:p>
          <a:p>
            <a:pPr algn="r"/>
            <a:r>
              <a:rPr lang="sr-Cyrl-RS" sz="3200" dirty="0">
                <a:solidFill>
                  <a:schemeClr val="bg1"/>
                </a:solidFill>
              </a:rPr>
              <a:t>Микрофронтенд аутентификације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7C945B-BA8C-1750-0085-25E2FFD45E3B}"/>
              </a:ext>
            </a:extLst>
          </p:cNvPr>
          <p:cNvSpPr txBox="1"/>
          <p:nvPr/>
        </p:nvSpPr>
        <p:spPr>
          <a:xfrm>
            <a:off x="240699" y="280649"/>
            <a:ext cx="62121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Cyrl-RS" sz="4000" b="1" dirty="0">
                <a:solidFill>
                  <a:schemeClr val="bg1"/>
                </a:solidFill>
              </a:rPr>
              <a:t>Вертикална подела</a:t>
            </a:r>
          </a:p>
        </p:txBody>
      </p:sp>
    </p:spTree>
    <p:extLst>
      <p:ext uri="{BB962C8B-B14F-4D97-AF65-F5344CB8AC3E}">
        <p14:creationId xmlns:p14="http://schemas.microsoft.com/office/powerpoint/2010/main" val="37403959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573923-72DE-6D5D-EF72-F7904EDB1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2F5D8476-2DCF-BA55-7D12-0AED5628D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710805" y="3911407"/>
            <a:ext cx="5155287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54C112-3750-5E1C-A376-F3F3D3C9AD2F}"/>
              </a:ext>
            </a:extLst>
          </p:cNvPr>
          <p:cNvSpPr txBox="1"/>
          <p:nvPr/>
        </p:nvSpPr>
        <p:spPr>
          <a:xfrm>
            <a:off x="5695642" y="2716002"/>
            <a:ext cx="621211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3200" dirty="0">
                <a:solidFill>
                  <a:schemeClr val="bg1"/>
                </a:solidFill>
              </a:rPr>
              <a:t>Више микрофронтендова одједном на екрану</a:t>
            </a:r>
          </a:p>
          <a:p>
            <a:pPr algn="ctr"/>
            <a:r>
              <a:rPr lang="sr-Cyrl-RS" sz="3200" dirty="0">
                <a:solidFill>
                  <a:schemeClr val="accent5"/>
                </a:solidFill>
              </a:rPr>
              <a:t>Преглед</a:t>
            </a:r>
            <a:r>
              <a:rPr lang="sr-Cyrl-RS" sz="3200" dirty="0">
                <a:solidFill>
                  <a:schemeClr val="bg1"/>
                </a:solidFill>
              </a:rPr>
              <a:t> и </a:t>
            </a:r>
            <a:r>
              <a:rPr lang="sr-Cyrl-RS" sz="3200" dirty="0">
                <a:solidFill>
                  <a:schemeClr val="accent3"/>
                </a:solidFill>
              </a:rPr>
              <a:t>каталог болести</a:t>
            </a:r>
            <a:r>
              <a:rPr lang="en-US" sz="3200" dirty="0">
                <a:solidFill>
                  <a:schemeClr val="accent3"/>
                </a:solidFill>
              </a:rPr>
              <a:t> </a:t>
            </a:r>
            <a:r>
              <a:rPr lang="sr-Cyrl-RS" sz="3200" dirty="0">
                <a:solidFill>
                  <a:schemeClr val="bg1"/>
                </a:solidFill>
              </a:rPr>
              <a:t>један поред другог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F8A00A-EC00-249F-2A98-B02FFF116140}"/>
              </a:ext>
            </a:extLst>
          </p:cNvPr>
          <p:cNvSpPr txBox="1"/>
          <p:nvPr/>
        </p:nvSpPr>
        <p:spPr>
          <a:xfrm>
            <a:off x="5979885" y="975167"/>
            <a:ext cx="62121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Cyrl-RS" sz="4000" b="1" dirty="0">
                <a:solidFill>
                  <a:schemeClr val="bg1"/>
                </a:solidFill>
              </a:rPr>
              <a:t>Хоризонтална подела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7B72FD-589D-842E-1A21-AFBCE18AF7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683"/>
          <a:stretch>
            <a:fillRect/>
          </a:stretch>
        </p:blipFill>
        <p:spPr>
          <a:xfrm>
            <a:off x="0" y="-27743"/>
            <a:ext cx="5314950" cy="68611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8B9F02-35A5-FB87-CC39-5175507C048F}"/>
              </a:ext>
            </a:extLst>
          </p:cNvPr>
          <p:cNvSpPr/>
          <p:nvPr/>
        </p:nvSpPr>
        <p:spPr>
          <a:xfrm>
            <a:off x="0" y="236059"/>
            <a:ext cx="3889829" cy="6440512"/>
          </a:xfrm>
          <a:prstGeom prst="rect">
            <a:avLst/>
          </a:prstGeom>
          <a:solidFill>
            <a:srgbClr val="FDBA4D">
              <a:alpha val="25098"/>
            </a:srgbClr>
          </a:solidFill>
          <a:ln>
            <a:solidFill>
              <a:srgbClr val="FDBA4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B26095-2E90-78C6-393E-91059790D6EA}"/>
              </a:ext>
            </a:extLst>
          </p:cNvPr>
          <p:cNvSpPr/>
          <p:nvPr/>
        </p:nvSpPr>
        <p:spPr>
          <a:xfrm>
            <a:off x="3889830" y="236059"/>
            <a:ext cx="1310820" cy="2840970"/>
          </a:xfrm>
          <a:prstGeom prst="rect">
            <a:avLst/>
          </a:prstGeom>
          <a:solidFill>
            <a:srgbClr val="2BBB9D">
              <a:alpha val="25098"/>
            </a:srgbClr>
          </a:solidFill>
          <a:ln>
            <a:solidFill>
              <a:srgbClr val="2BBB9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278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3FD330-9D5C-C4F3-05FA-F9A58B820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CE96B27C-6FC6-7291-6F78-47C00DC33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407065">
            <a:off x="-2425244" y="2704641"/>
            <a:ext cx="5155287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7FC166-E53F-F488-0036-3CDF628358EA}"/>
              </a:ext>
            </a:extLst>
          </p:cNvPr>
          <p:cNvSpPr txBox="1"/>
          <p:nvPr/>
        </p:nvSpPr>
        <p:spPr>
          <a:xfrm>
            <a:off x="571499" y="165735"/>
            <a:ext cx="110489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2800" dirty="0">
                <a:solidFill>
                  <a:schemeClr val="accent5"/>
                </a:solidFill>
              </a:rPr>
              <a:t>Дељење стања </a:t>
            </a:r>
            <a:r>
              <a:rPr lang="sr-Cyrl-RS" sz="2800" dirty="0">
                <a:solidFill>
                  <a:schemeClr val="bg1"/>
                </a:solidFill>
              </a:rPr>
              <a:t>и </a:t>
            </a:r>
            <a:r>
              <a:rPr lang="sr-Cyrl-RS" sz="2800" dirty="0">
                <a:solidFill>
                  <a:schemeClr val="accent5"/>
                </a:solidFill>
              </a:rPr>
              <a:t>чврста спрегнутост </a:t>
            </a:r>
            <a:r>
              <a:rPr lang="sr-Cyrl-RS" sz="2800" dirty="0">
                <a:solidFill>
                  <a:schemeClr val="bg1"/>
                </a:solidFill>
              </a:rPr>
              <a:t>између микрофронтендова је </a:t>
            </a:r>
            <a:r>
              <a:rPr lang="sr-Cyrl-RS" sz="2800" b="1" dirty="0">
                <a:solidFill>
                  <a:schemeClr val="accent4"/>
                </a:solidFill>
              </a:rPr>
              <a:t>анти-патерн</a:t>
            </a:r>
            <a:r>
              <a:rPr lang="sr-Cyrl-RS" sz="28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A1912B-0574-4B38-5624-E721B037AF15}"/>
              </a:ext>
            </a:extLst>
          </p:cNvPr>
          <p:cNvSpPr txBox="1"/>
          <p:nvPr/>
        </p:nvSpPr>
        <p:spPr>
          <a:xfrm>
            <a:off x="-1029" y="3982865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r-Cyrl-R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Међусобна комуникација мора бити </a:t>
            </a:r>
            <a:r>
              <a:rPr kumimoji="0" lang="sr-Cyrl-RS" sz="2800" b="0" i="0" u="none" strike="noStrike" kern="1200" cap="none" spc="0" normalizeH="0" baseline="0" noProof="0" dirty="0">
                <a:ln>
                  <a:noFill/>
                </a:ln>
                <a:solidFill>
                  <a:srgbClr val="2BBB9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минимална</a:t>
            </a:r>
            <a:r>
              <a:rPr kumimoji="0" lang="sr-Cyrl-R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и </a:t>
            </a:r>
            <a:r>
              <a:rPr kumimoji="0" lang="sr-Cyrl-RS" sz="2800" b="0" i="0" u="none" strike="noStrike" kern="1200" cap="none" spc="0" normalizeH="0" baseline="0" noProof="0" dirty="0">
                <a:ln>
                  <a:noFill/>
                </a:ln>
                <a:solidFill>
                  <a:srgbClr val="2BBB9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флексибилна</a:t>
            </a:r>
            <a:r>
              <a:rPr kumimoji="0" lang="sr-Cyrl-R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CE9EFC-710F-D65A-BBB5-572360BDDEC1}"/>
              </a:ext>
            </a:extLst>
          </p:cNvPr>
          <p:cNvSpPr/>
          <p:nvPr/>
        </p:nvSpPr>
        <p:spPr>
          <a:xfrm>
            <a:off x="2380343" y="2442028"/>
            <a:ext cx="2264228" cy="986972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Микрофронтенд 1</a:t>
            </a:r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D9FAAB8-60DB-99C7-C05B-39F5F44367D1}"/>
              </a:ext>
            </a:extLst>
          </p:cNvPr>
          <p:cNvSpPr/>
          <p:nvPr/>
        </p:nvSpPr>
        <p:spPr>
          <a:xfrm>
            <a:off x="4963884" y="2442028"/>
            <a:ext cx="2264228" cy="986972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Микрофронтенд 2</a:t>
            </a:r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6568FFB-87CB-E580-6BDB-D9AAF88EAB37}"/>
              </a:ext>
            </a:extLst>
          </p:cNvPr>
          <p:cNvSpPr/>
          <p:nvPr/>
        </p:nvSpPr>
        <p:spPr>
          <a:xfrm>
            <a:off x="7545372" y="2442028"/>
            <a:ext cx="2264228" cy="986972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Микрофронтенд 3</a:t>
            </a:r>
            <a:endParaRPr lang="en-US" dirty="0"/>
          </a:p>
        </p:txBody>
      </p:sp>
      <p:sp>
        <p:nvSpPr>
          <p:cNvPr id="17" name="Cylinder 16">
            <a:extLst>
              <a:ext uri="{FF2B5EF4-FFF2-40B4-BE49-F238E27FC236}">
                <a16:creationId xmlns:a16="http://schemas.microsoft.com/office/drawing/2014/main" id="{5D7CD8ED-0A9E-AE42-5FEB-6BB7019457EA}"/>
              </a:ext>
            </a:extLst>
          </p:cNvPr>
          <p:cNvSpPr/>
          <p:nvPr/>
        </p:nvSpPr>
        <p:spPr>
          <a:xfrm>
            <a:off x="5348511" y="1276172"/>
            <a:ext cx="1494973" cy="98697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Стање</a:t>
            </a:r>
            <a:endParaRPr lang="en-US" dirty="0"/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3D569645-7081-71FA-BA87-163BB438A3E2}"/>
              </a:ext>
            </a:extLst>
          </p:cNvPr>
          <p:cNvCxnSpPr>
            <a:cxnSpLocks/>
            <a:stCxn id="12" idx="3"/>
            <a:endCxn id="17" idx="2"/>
          </p:cNvCxnSpPr>
          <p:nvPr/>
        </p:nvCxnSpPr>
        <p:spPr>
          <a:xfrm flipV="1">
            <a:off x="4644571" y="1769658"/>
            <a:ext cx="703940" cy="1165856"/>
          </a:xfrm>
          <a:prstGeom prst="curvedConnector3">
            <a:avLst>
              <a:gd name="adj1" fmla="val 27320"/>
            </a:avLst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7FFE2C99-74B6-BCCC-3F4A-1458AE8EE916}"/>
              </a:ext>
            </a:extLst>
          </p:cNvPr>
          <p:cNvCxnSpPr>
            <a:cxnSpLocks/>
            <a:stCxn id="14" idx="0"/>
            <a:endCxn id="17" idx="4"/>
          </p:cNvCxnSpPr>
          <p:nvPr/>
        </p:nvCxnSpPr>
        <p:spPr>
          <a:xfrm rot="5400000" flipH="1" flipV="1">
            <a:off x="6133556" y="1732100"/>
            <a:ext cx="672370" cy="747486"/>
          </a:xfrm>
          <a:prstGeom prst="curvedConnector4">
            <a:avLst>
              <a:gd name="adj1" fmla="val 13302"/>
              <a:gd name="adj2" fmla="val 130583"/>
            </a:avLst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B292A281-B79C-29CA-206C-274474EC7859}"/>
              </a:ext>
            </a:extLst>
          </p:cNvPr>
          <p:cNvCxnSpPr>
            <a:cxnSpLocks/>
            <a:stCxn id="16" idx="0"/>
            <a:endCxn id="17" idx="0"/>
          </p:cNvCxnSpPr>
          <p:nvPr/>
        </p:nvCxnSpPr>
        <p:spPr>
          <a:xfrm rot="16200000" flipV="1">
            <a:off x="6927186" y="691728"/>
            <a:ext cx="919113" cy="2581488"/>
          </a:xfrm>
          <a:prstGeom prst="curvedConnector3">
            <a:avLst>
              <a:gd name="adj1" fmla="val 123293"/>
            </a:avLst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7757FE5B-2770-1CEE-B1FB-275ED50A555D}"/>
              </a:ext>
            </a:extLst>
          </p:cNvPr>
          <p:cNvCxnSpPr>
            <a:cxnSpLocks/>
            <a:stCxn id="12" idx="2"/>
            <a:endCxn id="14" idx="2"/>
          </p:cNvCxnSpPr>
          <p:nvPr/>
        </p:nvCxnSpPr>
        <p:spPr>
          <a:xfrm rot="16200000" flipH="1">
            <a:off x="4804227" y="2137229"/>
            <a:ext cx="12700" cy="2583541"/>
          </a:xfrm>
          <a:prstGeom prst="curvedConnector3">
            <a:avLst>
              <a:gd name="adj1" fmla="val 1800000"/>
            </a:avLst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6A2F9220-7AAE-5EC7-11AB-281A5C5F551E}"/>
              </a:ext>
            </a:extLst>
          </p:cNvPr>
          <p:cNvCxnSpPr>
            <a:cxnSpLocks/>
            <a:stCxn id="12" idx="0"/>
            <a:endCxn id="16" idx="2"/>
          </p:cNvCxnSpPr>
          <p:nvPr/>
        </p:nvCxnSpPr>
        <p:spPr>
          <a:xfrm rot="16200000" flipH="1">
            <a:off x="5601485" y="353000"/>
            <a:ext cx="986972" cy="5165029"/>
          </a:xfrm>
          <a:prstGeom prst="curvedConnector5">
            <a:avLst>
              <a:gd name="adj1" fmla="val -23162"/>
              <a:gd name="adj2" fmla="val 50000"/>
              <a:gd name="adj3" fmla="val 123162"/>
            </a:avLst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F03FB65-262B-1D65-7FD7-512B8133C60B}"/>
              </a:ext>
            </a:extLst>
          </p:cNvPr>
          <p:cNvSpPr/>
          <p:nvPr/>
        </p:nvSpPr>
        <p:spPr>
          <a:xfrm>
            <a:off x="2380342" y="5698943"/>
            <a:ext cx="2264228" cy="986972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sr-Cyrl-RS" dirty="0"/>
              <a:t>Микрофронтенд 1</a:t>
            </a:r>
            <a:endParaRPr lang="en-US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597A2F3-1F5E-FFED-9F1F-F8087E5300EB}"/>
              </a:ext>
            </a:extLst>
          </p:cNvPr>
          <p:cNvSpPr/>
          <p:nvPr/>
        </p:nvSpPr>
        <p:spPr>
          <a:xfrm>
            <a:off x="4963883" y="5698943"/>
            <a:ext cx="2264228" cy="986972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sr-Cyrl-RS" dirty="0"/>
              <a:t>Микрофронтенд 2</a:t>
            </a:r>
            <a:endParaRPr lang="en-US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A5C9BBE-DD95-7607-3847-2F5FFD062F91}"/>
              </a:ext>
            </a:extLst>
          </p:cNvPr>
          <p:cNvSpPr/>
          <p:nvPr/>
        </p:nvSpPr>
        <p:spPr>
          <a:xfrm>
            <a:off x="7545371" y="5698943"/>
            <a:ext cx="2264228" cy="986972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sr-Cyrl-RS" dirty="0"/>
              <a:t>Микрофронтенд 3</a:t>
            </a:r>
            <a:endParaRPr lang="en-US" dirty="0"/>
          </a:p>
        </p:txBody>
      </p:sp>
      <p:sp>
        <p:nvSpPr>
          <p:cNvPr id="54" name="Cylinder 53">
            <a:extLst>
              <a:ext uri="{FF2B5EF4-FFF2-40B4-BE49-F238E27FC236}">
                <a16:creationId xmlns:a16="http://schemas.microsoft.com/office/drawing/2014/main" id="{2C25AB06-69C6-96E1-5B01-2A7DEF291D67}"/>
              </a:ext>
            </a:extLst>
          </p:cNvPr>
          <p:cNvSpPr/>
          <p:nvPr/>
        </p:nvSpPr>
        <p:spPr>
          <a:xfrm>
            <a:off x="2494643" y="6252808"/>
            <a:ext cx="566058" cy="366338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Cylinder 55">
            <a:extLst>
              <a:ext uri="{FF2B5EF4-FFF2-40B4-BE49-F238E27FC236}">
                <a16:creationId xmlns:a16="http://schemas.microsoft.com/office/drawing/2014/main" id="{98C5B101-3FC6-FA22-CD8A-11B9E3583DC8}"/>
              </a:ext>
            </a:extLst>
          </p:cNvPr>
          <p:cNvSpPr/>
          <p:nvPr/>
        </p:nvSpPr>
        <p:spPr>
          <a:xfrm>
            <a:off x="5065482" y="6252808"/>
            <a:ext cx="566058" cy="366338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Cylinder 57">
            <a:extLst>
              <a:ext uri="{FF2B5EF4-FFF2-40B4-BE49-F238E27FC236}">
                <a16:creationId xmlns:a16="http://schemas.microsoft.com/office/drawing/2014/main" id="{12C5E654-0ED8-EF82-BDF5-75A37D56B91A}"/>
              </a:ext>
            </a:extLst>
          </p:cNvPr>
          <p:cNvSpPr/>
          <p:nvPr/>
        </p:nvSpPr>
        <p:spPr>
          <a:xfrm>
            <a:off x="7662515" y="6252808"/>
            <a:ext cx="566058" cy="366338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B13D99C-1674-28D0-61F1-2DC307D77741}"/>
              </a:ext>
            </a:extLst>
          </p:cNvPr>
          <p:cNvSpPr/>
          <p:nvPr/>
        </p:nvSpPr>
        <p:spPr>
          <a:xfrm>
            <a:off x="2813048" y="4661406"/>
            <a:ext cx="6578600" cy="62811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Cyrl-RS" dirty="0"/>
              <a:t>Магистрала догађаја</a:t>
            </a:r>
            <a:endParaRPr lang="en-US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8DCE140-57B6-16F1-5FAA-C0015A4EE2F5}"/>
              </a:ext>
            </a:extLst>
          </p:cNvPr>
          <p:cNvCxnSpPr>
            <a:cxnSpLocks/>
            <a:stCxn id="41" idx="0"/>
          </p:cNvCxnSpPr>
          <p:nvPr/>
        </p:nvCxnSpPr>
        <p:spPr>
          <a:xfrm flipV="1">
            <a:off x="3512456" y="5289520"/>
            <a:ext cx="6350" cy="40942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567997B-89C7-3CC3-B1D9-DBDB3F0DD7BC}"/>
              </a:ext>
            </a:extLst>
          </p:cNvPr>
          <p:cNvCxnSpPr>
            <a:cxnSpLocks/>
          </p:cNvCxnSpPr>
          <p:nvPr/>
        </p:nvCxnSpPr>
        <p:spPr>
          <a:xfrm>
            <a:off x="3784600" y="5289520"/>
            <a:ext cx="0" cy="40942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5AFA05E-CB82-B849-E3DD-76670D9DA007}"/>
              </a:ext>
            </a:extLst>
          </p:cNvPr>
          <p:cNvCxnSpPr>
            <a:cxnSpLocks/>
          </p:cNvCxnSpPr>
          <p:nvPr/>
        </p:nvCxnSpPr>
        <p:spPr>
          <a:xfrm flipV="1">
            <a:off x="5902084" y="5289520"/>
            <a:ext cx="6350" cy="40942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B4B9DA1-3802-ADB5-448B-DEF4F4CA5C5C}"/>
              </a:ext>
            </a:extLst>
          </p:cNvPr>
          <p:cNvCxnSpPr>
            <a:cxnSpLocks/>
          </p:cNvCxnSpPr>
          <p:nvPr/>
        </p:nvCxnSpPr>
        <p:spPr>
          <a:xfrm>
            <a:off x="6174228" y="5289520"/>
            <a:ext cx="0" cy="40942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52871FA-DE44-123F-37B8-7339DCD154D5}"/>
              </a:ext>
            </a:extLst>
          </p:cNvPr>
          <p:cNvCxnSpPr>
            <a:cxnSpLocks/>
          </p:cNvCxnSpPr>
          <p:nvPr/>
        </p:nvCxnSpPr>
        <p:spPr>
          <a:xfrm flipV="1">
            <a:off x="8405342" y="5273463"/>
            <a:ext cx="6350" cy="40942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D5757A0-BA80-A014-466D-06F85AD5DC77}"/>
              </a:ext>
            </a:extLst>
          </p:cNvPr>
          <p:cNvCxnSpPr>
            <a:cxnSpLocks/>
          </p:cNvCxnSpPr>
          <p:nvPr/>
        </p:nvCxnSpPr>
        <p:spPr>
          <a:xfrm>
            <a:off x="8677486" y="5273463"/>
            <a:ext cx="0" cy="40942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262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D57D6C-CE84-10ED-EC1D-7C387502A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3E646627-C73C-25E4-64D1-8D3B38134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054593">
            <a:off x="-1524550" y="-4014007"/>
            <a:ext cx="5155287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5BA6C7-E543-16B3-6DCC-6D7DFF92E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192" y="978326"/>
            <a:ext cx="9303615" cy="58796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754644-EDE6-4670-7840-2CED9EE75D68}"/>
              </a:ext>
            </a:extLst>
          </p:cNvPr>
          <p:cNvSpPr txBox="1"/>
          <p:nvPr/>
        </p:nvSpPr>
        <p:spPr>
          <a:xfrm>
            <a:off x="297543" y="143179"/>
            <a:ext cx="11596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3600" dirty="0">
                <a:solidFill>
                  <a:schemeClr val="bg1"/>
                </a:solidFill>
                <a:latin typeface="+mj-lt"/>
              </a:rPr>
              <a:t>Комуникација путем </a:t>
            </a:r>
            <a:r>
              <a:rPr lang="sr-Cyrl-RS" sz="3600" b="1" dirty="0">
                <a:solidFill>
                  <a:schemeClr val="bg1"/>
                </a:solidFill>
                <a:latin typeface="+mj-lt"/>
              </a:rPr>
              <a:t>магистрале догађаја</a:t>
            </a:r>
            <a:endParaRPr lang="en-US"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423E-34C2-FF30-2091-A451E4133373}"/>
              </a:ext>
            </a:extLst>
          </p:cNvPr>
          <p:cNvSpPr/>
          <p:nvPr/>
        </p:nvSpPr>
        <p:spPr>
          <a:xfrm>
            <a:off x="8505373" y="4590930"/>
            <a:ext cx="2075542" cy="779356"/>
          </a:xfrm>
          <a:prstGeom prst="rect">
            <a:avLst/>
          </a:prstGeom>
          <a:noFill/>
          <a:ln w="762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651C35B0-49C8-3B82-3FCF-35259B6054B4}"/>
              </a:ext>
            </a:extLst>
          </p:cNvPr>
          <p:cNvCxnSpPr>
            <a:cxnSpLocks/>
            <a:stCxn id="8" idx="1"/>
            <a:endCxn id="18" idx="3"/>
          </p:cNvCxnSpPr>
          <p:nvPr/>
        </p:nvCxnSpPr>
        <p:spPr>
          <a:xfrm rot="10800000">
            <a:off x="5637613" y="2902598"/>
            <a:ext cx="2867761" cy="2078010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CB0128B-A3E4-D16F-F05A-751C7F2666F9}"/>
              </a:ext>
            </a:extLst>
          </p:cNvPr>
          <p:cNvSpPr/>
          <p:nvPr/>
        </p:nvSpPr>
        <p:spPr>
          <a:xfrm>
            <a:off x="1444192" y="2524967"/>
            <a:ext cx="4193420" cy="755261"/>
          </a:xfrm>
          <a:prstGeom prst="rect">
            <a:avLst/>
          </a:prstGeom>
          <a:noFill/>
          <a:ln w="762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82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D6A8E2-1CF9-F996-013F-6F459114C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82190F83-6DCE-3897-2ECC-55356787F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918242">
            <a:off x="7982405" y="-2212074"/>
            <a:ext cx="5155287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C7FABA-5F99-30BB-5A06-5F6A32950E2D}"/>
              </a:ext>
            </a:extLst>
          </p:cNvPr>
          <p:cNvSpPr txBox="1"/>
          <p:nvPr/>
        </p:nvSpPr>
        <p:spPr>
          <a:xfrm>
            <a:off x="2085975" y="77860"/>
            <a:ext cx="8020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3600" dirty="0">
                <a:solidFill>
                  <a:schemeClr val="bg1"/>
                </a:solidFill>
                <a:latin typeface="+mj-lt"/>
              </a:rPr>
              <a:t>Комуникација путем адресе</a:t>
            </a:r>
            <a:endParaRPr lang="en-US" sz="36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449063-9BBF-8325-7790-B64A3B8B1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79600" y="843180"/>
            <a:ext cx="8449735" cy="44146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FD810C-3275-D8E2-8E36-4BA9BE06B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0085" y="4216696"/>
            <a:ext cx="6291915" cy="443200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684D2CC-41C0-653F-038C-8BFCCC26B31D}"/>
              </a:ext>
            </a:extLst>
          </p:cNvPr>
          <p:cNvSpPr/>
          <p:nvPr/>
        </p:nvSpPr>
        <p:spPr>
          <a:xfrm>
            <a:off x="4133850" y="3819821"/>
            <a:ext cx="914400" cy="475954"/>
          </a:xfrm>
          <a:prstGeom prst="rect">
            <a:avLst/>
          </a:prstGeom>
          <a:noFill/>
          <a:ln w="762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91D5C4-DEBE-4915-9C8B-FB07F9B14C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424" r="32908" b="96218"/>
          <a:stretch>
            <a:fillRect/>
          </a:stretch>
        </p:blipFill>
        <p:spPr>
          <a:xfrm>
            <a:off x="6570135" y="3741436"/>
            <a:ext cx="5648785" cy="475260"/>
          </a:xfrm>
          <a:prstGeom prst="rect">
            <a:avLst/>
          </a:prstGeom>
        </p:spPr>
      </p:pic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B5258FAC-D6A3-68DD-B6B9-A907A50675C3}"/>
              </a:ext>
            </a:extLst>
          </p:cNvPr>
          <p:cNvCxnSpPr>
            <a:cxnSpLocks/>
            <a:stCxn id="8" idx="2"/>
            <a:endCxn id="18" idx="1"/>
          </p:cNvCxnSpPr>
          <p:nvPr/>
        </p:nvCxnSpPr>
        <p:spPr>
          <a:xfrm rot="5400000" flipH="1" flipV="1">
            <a:off x="7081996" y="1487773"/>
            <a:ext cx="317056" cy="5298948"/>
          </a:xfrm>
          <a:prstGeom prst="curvedConnector4">
            <a:avLst>
              <a:gd name="adj1" fmla="val -72101"/>
              <a:gd name="adj2" fmla="val 54314"/>
            </a:avLst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A3CAE24-EE93-3E0F-B3CD-F6ADBBB2436E}"/>
              </a:ext>
            </a:extLst>
          </p:cNvPr>
          <p:cNvSpPr/>
          <p:nvPr/>
        </p:nvSpPr>
        <p:spPr>
          <a:xfrm>
            <a:off x="9889998" y="3740742"/>
            <a:ext cx="2302002" cy="475954"/>
          </a:xfrm>
          <a:prstGeom prst="rect">
            <a:avLst/>
          </a:prstGeom>
          <a:noFill/>
          <a:ln w="762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466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C0F159-98CE-1687-3E7A-200DE2D0E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0C271EA0-B79D-DB40-174D-D4C33843C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897015">
            <a:off x="4065369" y="-4650642"/>
            <a:ext cx="5155287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709EA6-F46D-8E51-988D-FCFD798E83B9}"/>
              </a:ext>
            </a:extLst>
          </p:cNvPr>
          <p:cNvSpPr txBox="1"/>
          <p:nvPr/>
        </p:nvSpPr>
        <p:spPr>
          <a:xfrm>
            <a:off x="374650" y="1499969"/>
            <a:ext cx="11442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3600" dirty="0">
                <a:solidFill>
                  <a:schemeClr val="bg1"/>
                </a:solidFill>
                <a:latin typeface="+mj-lt"/>
              </a:rPr>
              <a:t>Комуникација путем веб складишта</a:t>
            </a:r>
            <a:endParaRPr lang="en-US" sz="36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40CF46-7A02-3399-2DA2-057BDE043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05080"/>
            <a:ext cx="12194110" cy="334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347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B665EF-C1D1-802D-4252-FBD19FD95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FA0937F9-AE3A-550B-DF69-D80524AD8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4633483">
            <a:off x="5628509" y="2549716"/>
            <a:ext cx="5155287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CCA30B-1CEF-B5FC-F3EB-69BBCA8F68C2}"/>
              </a:ext>
            </a:extLst>
          </p:cNvPr>
          <p:cNvSpPr txBox="1"/>
          <p:nvPr/>
        </p:nvSpPr>
        <p:spPr>
          <a:xfrm>
            <a:off x="1713871" y="384877"/>
            <a:ext cx="6492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4800" dirty="0">
                <a:solidFill>
                  <a:schemeClr val="bg1"/>
                </a:solidFill>
                <a:latin typeface="+mj-lt"/>
              </a:rPr>
              <a:t>Систем дизајна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1F24D-A4BC-A27D-6A8D-F93DECE06816}"/>
              </a:ext>
            </a:extLst>
          </p:cNvPr>
          <p:cNvSpPr txBox="1"/>
          <p:nvPr/>
        </p:nvSpPr>
        <p:spPr>
          <a:xfrm>
            <a:off x="288224" y="3986608"/>
            <a:ext cx="56407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sz="3600" dirty="0">
                <a:solidFill>
                  <a:schemeClr val="bg1"/>
                </a:solidFill>
              </a:rPr>
              <a:t>Дели се свуда зарад </a:t>
            </a:r>
            <a:r>
              <a:rPr lang="sr-Cyrl-RS" sz="3600" dirty="0">
                <a:solidFill>
                  <a:schemeClr val="accent3"/>
                </a:solidFill>
              </a:rPr>
              <a:t>конзистентног</a:t>
            </a:r>
            <a:r>
              <a:rPr lang="sr-Cyrl-RS" sz="3600" dirty="0">
                <a:solidFill>
                  <a:schemeClr val="bg1"/>
                </a:solidFill>
              </a:rPr>
              <a:t> изгледа, независно од радног оквира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B2C55C-05A0-4321-A359-A2825C608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0" y="-4988"/>
            <a:ext cx="2667000" cy="68629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98192BE-A455-BEC5-CA8D-09E55E220564}"/>
              </a:ext>
            </a:extLst>
          </p:cNvPr>
          <p:cNvSpPr txBox="1"/>
          <p:nvPr/>
        </p:nvSpPr>
        <p:spPr>
          <a:xfrm>
            <a:off x="288224" y="1724078"/>
            <a:ext cx="82787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sz="3600" dirty="0">
                <a:solidFill>
                  <a:schemeClr val="bg1"/>
                </a:solidFill>
              </a:rPr>
              <a:t>Комплетан сет стандарда, </a:t>
            </a:r>
            <a:r>
              <a:rPr lang="sr-Cyrl-RS" sz="3600" dirty="0">
                <a:solidFill>
                  <a:schemeClr val="accent2"/>
                </a:solidFill>
              </a:rPr>
              <a:t>компоненти</a:t>
            </a:r>
            <a:r>
              <a:rPr lang="sr-Cyrl-RS" sz="3600" dirty="0">
                <a:solidFill>
                  <a:schemeClr val="bg1"/>
                </a:solidFill>
              </a:rPr>
              <a:t> и алата за управљање дизајном унутар организације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4189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62FA9-4C50-B78D-0062-97114A949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09212A2D-C3D8-C64C-5152-812095965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762672">
            <a:off x="8962259" y="-3101273"/>
            <a:ext cx="5155287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0E4177-9BF5-9517-4829-EB94AF7F3C55}"/>
              </a:ext>
            </a:extLst>
          </p:cNvPr>
          <p:cNvSpPr txBox="1"/>
          <p:nvPr/>
        </p:nvSpPr>
        <p:spPr>
          <a:xfrm>
            <a:off x="590549" y="597689"/>
            <a:ext cx="110109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5400" dirty="0">
                <a:solidFill>
                  <a:schemeClr val="bg1"/>
                </a:solidFill>
                <a:latin typeface="+mj-lt"/>
              </a:rPr>
              <a:t>Анти-патерн вишеструких радних оквира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C817D2-4182-771E-B3AD-359BA1DAD4B6}"/>
              </a:ext>
            </a:extLst>
          </p:cNvPr>
          <p:cNvSpPr txBox="1"/>
          <p:nvPr/>
        </p:nvSpPr>
        <p:spPr>
          <a:xfrm>
            <a:off x="590549" y="2752124"/>
            <a:ext cx="110109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4000" dirty="0">
                <a:solidFill>
                  <a:schemeClr val="accent3"/>
                </a:solidFill>
              </a:rPr>
              <a:t>Одсуством јасних смерница</a:t>
            </a:r>
            <a:r>
              <a:rPr lang="sr-Cyrl-RS" sz="4000" dirty="0">
                <a:solidFill>
                  <a:schemeClr val="bg1"/>
                </a:solidFill>
              </a:rPr>
              <a:t>, тимови могу да користе </a:t>
            </a:r>
            <a:r>
              <a:rPr lang="sr-Cyrl-RS" sz="4000" dirty="0">
                <a:solidFill>
                  <a:schemeClr val="accent5"/>
                </a:solidFill>
              </a:rPr>
              <a:t>широки спектар технологија</a:t>
            </a:r>
            <a:r>
              <a:rPr lang="sr-Cyrl-RS" sz="4000" dirty="0">
                <a:solidFill>
                  <a:schemeClr val="bg1"/>
                </a:solidFill>
              </a:rPr>
              <a:t>, чиме би у једној апликацији користили </a:t>
            </a:r>
            <a:r>
              <a:rPr lang="en-US" sz="4000" dirty="0">
                <a:solidFill>
                  <a:schemeClr val="bg1"/>
                </a:solidFill>
              </a:rPr>
              <a:t>React, Angular </a:t>
            </a:r>
            <a:r>
              <a:rPr lang="sr-Cyrl-RS" sz="4000" dirty="0">
                <a:solidFill>
                  <a:schemeClr val="bg1"/>
                </a:solidFill>
              </a:rPr>
              <a:t>и </a:t>
            </a:r>
            <a:r>
              <a:rPr lang="sr-Latn-RS" sz="4000" dirty="0" err="1">
                <a:solidFill>
                  <a:schemeClr val="bg1"/>
                </a:solidFill>
              </a:rPr>
              <a:t>Vue</a:t>
            </a:r>
            <a:r>
              <a:rPr lang="sr-Latn-RS" sz="4000" dirty="0">
                <a:solidFill>
                  <a:schemeClr val="bg1"/>
                </a:solidFill>
              </a:rPr>
              <a:t> </a:t>
            </a:r>
            <a:r>
              <a:rPr lang="sr-Cyrl-RS" sz="4000" dirty="0">
                <a:solidFill>
                  <a:schemeClr val="bg1"/>
                </a:solidFill>
              </a:rPr>
              <a:t>истовремено, стварајући </a:t>
            </a:r>
            <a:r>
              <a:rPr lang="sr-Cyrl-RS" sz="4000" dirty="0">
                <a:solidFill>
                  <a:schemeClr val="accent4"/>
                </a:solidFill>
              </a:rPr>
              <a:t>анархију</a:t>
            </a:r>
            <a:r>
              <a:rPr lang="sr-Cyrl-RS" sz="4000" dirty="0">
                <a:solidFill>
                  <a:schemeClr val="bg1"/>
                </a:solidFill>
              </a:rPr>
              <a:t>.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3436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97EA9B-4FD3-3D49-BBB6-6E0776BB3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9D323335-9E23-B593-F3F2-651F6C541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987540">
            <a:off x="3518355" y="-3429000"/>
            <a:ext cx="5155287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5BB99F-7F8A-9D77-453D-19EB3D0B7E55}"/>
              </a:ext>
            </a:extLst>
          </p:cNvPr>
          <p:cNvSpPr txBox="1"/>
          <p:nvPr/>
        </p:nvSpPr>
        <p:spPr>
          <a:xfrm>
            <a:off x="590549" y="597689"/>
            <a:ext cx="110109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8800" dirty="0">
                <a:solidFill>
                  <a:schemeClr val="bg1"/>
                </a:solidFill>
                <a:latin typeface="+mj-lt"/>
              </a:rPr>
              <a:t>Микрофронтенд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D61E97-6A6D-8A6C-B743-9178E8BEF6A4}"/>
              </a:ext>
            </a:extLst>
          </p:cNvPr>
          <p:cNvSpPr txBox="1"/>
          <p:nvPr/>
        </p:nvSpPr>
        <p:spPr>
          <a:xfrm>
            <a:off x="590549" y="2752124"/>
            <a:ext cx="110109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4000" dirty="0">
                <a:solidFill>
                  <a:schemeClr val="bg1"/>
                </a:solidFill>
              </a:rPr>
              <a:t>Архитектура која само при </a:t>
            </a:r>
            <a:r>
              <a:rPr lang="sr-Cyrl-RS" sz="4000" dirty="0">
                <a:solidFill>
                  <a:schemeClr val="accent1"/>
                </a:solidFill>
              </a:rPr>
              <a:t>доброј расподели</a:t>
            </a:r>
            <a:r>
              <a:rPr lang="sr-Cyrl-RS" sz="4000" dirty="0">
                <a:solidFill>
                  <a:schemeClr val="bg1"/>
                </a:solidFill>
              </a:rPr>
              <a:t> пословних </a:t>
            </a:r>
            <a:r>
              <a:rPr lang="sr-Cyrl-RS" sz="4000" dirty="0">
                <a:solidFill>
                  <a:schemeClr val="accent1"/>
                </a:solidFill>
              </a:rPr>
              <a:t>поддомена</a:t>
            </a:r>
            <a:r>
              <a:rPr lang="sr-Cyrl-RS" sz="4000" dirty="0">
                <a:solidFill>
                  <a:schemeClr val="bg1"/>
                </a:solidFill>
              </a:rPr>
              <a:t> и строгим праћењем </a:t>
            </a:r>
            <a:r>
              <a:rPr lang="sr-Cyrl-RS" sz="4000" dirty="0">
                <a:solidFill>
                  <a:schemeClr val="accent2"/>
                </a:solidFill>
              </a:rPr>
              <a:t>добрих пракси </a:t>
            </a:r>
            <a:r>
              <a:rPr lang="sr-Cyrl-RS" sz="4000" dirty="0">
                <a:solidFill>
                  <a:schemeClr val="bg1"/>
                </a:solidFill>
              </a:rPr>
              <a:t>може убрзати независтан развој међу тимовима на огромном пројекту.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51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4A7B"/>
            </a:gs>
            <a:gs pos="100000">
              <a:srgbClr val="002D54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A1470F-B148-F898-1EE1-3C16F945C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ОАС – Основне академске студије">
            <a:extLst>
              <a:ext uri="{FF2B5EF4-FFF2-40B4-BE49-F238E27FC236}">
                <a16:creationId xmlns:a16="http://schemas.microsoft.com/office/drawing/2014/main" id="{9A397C4A-A7CB-58CD-EE56-C2355EEBD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858487">
            <a:off x="-1701346" y="-2990850"/>
            <a:ext cx="5155287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1C265C-0E8B-CA9C-D6E5-5BB8C7E2E33F}"/>
              </a:ext>
            </a:extLst>
          </p:cNvPr>
          <p:cNvSpPr txBox="1"/>
          <p:nvPr/>
        </p:nvSpPr>
        <p:spPr>
          <a:xfrm>
            <a:off x="590548" y="1865858"/>
            <a:ext cx="110109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8000" dirty="0">
                <a:solidFill>
                  <a:schemeClr val="bg1"/>
                </a:solidFill>
                <a:latin typeface="+mj-lt"/>
              </a:rPr>
              <a:t>Хвала на пажњи!</a:t>
            </a:r>
          </a:p>
          <a:p>
            <a:pPr algn="ctr"/>
            <a:r>
              <a:rPr lang="sr-Cyrl-RS" sz="8000" dirty="0">
                <a:solidFill>
                  <a:schemeClr val="bg1"/>
                </a:solidFill>
                <a:latin typeface="+mj-lt"/>
              </a:rPr>
              <a:t>Питања</a:t>
            </a:r>
            <a:r>
              <a:rPr lang="en-US" sz="8000" dirty="0">
                <a:solidFill>
                  <a:schemeClr val="bg1"/>
                </a:solidFill>
                <a:latin typeface="+mj-lt"/>
              </a:rPr>
              <a:t>?</a:t>
            </a:r>
            <a:endParaRPr lang="sr-Cyrl-RS" sz="80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F7B949-3A4C-E995-08C4-F51329414A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92" y="5296091"/>
            <a:ext cx="6298412" cy="15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73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002D54"/>
      </a:dk2>
      <a:lt2>
        <a:srgbClr val="EAE5EB"/>
      </a:lt2>
      <a:accent1>
        <a:srgbClr val="C63C96"/>
      </a:accent1>
      <a:accent2>
        <a:srgbClr val="8781BD"/>
      </a:accent2>
      <a:accent3>
        <a:srgbClr val="2BBB9D"/>
      </a:accent3>
      <a:accent4>
        <a:srgbClr val="F2706D"/>
      </a:accent4>
      <a:accent5>
        <a:srgbClr val="FDBA4D"/>
      </a:accent5>
      <a:accent6>
        <a:srgbClr val="014A7C"/>
      </a:accent6>
      <a:hlink>
        <a:srgbClr val="0066FF"/>
      </a:hlink>
      <a:folHlink>
        <a:srgbClr val="666699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339</Words>
  <Application>Microsoft Office PowerPoint</Application>
  <PresentationFormat>Widescreen</PresentationFormat>
  <Paragraphs>105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Arial Black</vt:lpstr>
      <vt:lpstr>Wingdings</vt:lpstr>
      <vt:lpstr>Office Theme</vt:lpstr>
      <vt:lpstr>Развој веб апликације применом Microfrontend архитектуре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Veljko Blagojević | 2023/3031</dc:creator>
  <cp:lastModifiedBy>Veljko Blagojević | 2023/3031</cp:lastModifiedBy>
  <cp:revision>108</cp:revision>
  <dcterms:created xsi:type="dcterms:W3CDTF">2026-09-07T17:23:17Z</dcterms:created>
  <dcterms:modified xsi:type="dcterms:W3CDTF">2026-09-08T01:43:31Z</dcterms:modified>
</cp:coreProperties>
</file>